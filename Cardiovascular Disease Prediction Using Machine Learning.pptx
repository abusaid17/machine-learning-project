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project. We trained seven different machine learning models to predict whether a patient has cardiovascular disease, using a real 70,000-record dataset, and compared them fairly with the same train, validation and test split. Mention your name, ID, supervisor Tanvir Ahmed, the CSE department and NITER.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goal clearly. The task is binary classification: from a patient's age, body measurements, blood pressure, cholesterol, glucose and lifestyle habits, predict whether they have cardiovascular disease. We compare seven algorithms fairly and judge them on data they never saw during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has 70,000 rows and 11 input features plus the target column cardio. The classes are almost perfectly balanced, so accuracy is a trustworthy metric. The data is real, but it contains data-entry errors, such as blood pressure of 16,020 or minus 150, so cleaning is a necessary step. After cleaning we keep 68,591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steps. Cleaning removed 1,409 rows with impossible values: for example systolic pressure below diastolic, or blood pressure over 250. The key point in step 4: the scaler learns its mean and standard deviation from the training data only, then applies them to validation and test data, which prevents data leakage. Scaled data is used by Logistic Regression, Linear Regression, SVM, KNN and the CNN; Decision Tree and XGBoost use unscaled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line per model. Mention that Linear Regression is really a number-predicting method, so we used a 0.5 threshold to turn its output into a class; it is included as a baseline for comparison, and Logistic Regression is the proper choice for classification. The CNN is a 1D convolutional network applied to tabular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three-way split. Train data is where the model learns. Validation data is used to choose settings such as tree depth or K, and to stop training before overfitting. Test data is used once at the end, so the final numbers are an honest estimate for new patients. For KNN the best K was the largest value we tried, so a larger K might do slightly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numbers come from the held-out test set of 10,289 patients. XGBoost and the 1D CNN lead with ROC-AUC of about 0.80 and accuracy of about 73 percent. The other five models are within about one percentage point of them in accuracy. Recall ranges from about 65 to 68 percent across all seven models. The differences between models are small, so do not over-interpret the ranking.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accuracy numbers as a chart, starting from zero so the scale is honest. All seven models land within about one percentage point of each other, between 72 and 73 percent. XGBoost and the CNN (green) are marginally ahead.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interpretation slide. With real data the ceiling is set by what the 11 measurements can tell us, so a simple Logistic Regression is almost as good as the more complex models. Do not read small differences between models as meaningful: they are within normal variation for a test set of this size. Correlations are from the cleaned data. The scaler was fitted on training data only, so there is no data leakage.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about the limits. In medicine a false negative, a sick patient the model calls healthy, is the costliest error, which is why recall matters as much as accuracy. Linear Regression is included only as a baseline because it predicts numbers rather than classes. This work is not a diagnostic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takeaways, then mention future work. The main lesson is not only which model won, but that on real data many different algorithms land at nearly the same accuracy, and that a fair evaluation needs a validation set for tuning and an untouched test set for the final score. Next steps: new features such as BMI, cross-validation, hyperparameter search and a recall-focused decision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 and invite questions. Likely questions: why all models score about the same (real data, only 11 features), why scaling was fitted on training data only (no leakage), how the impossible blood pressure values were handled (removed), and why Linear Regression was included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2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14232E"/>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490"/>
            <a:ext cx="10566400" cy="4424710"/>
          </a:xfrm>
          <a:prstGeom prst="rect">
            <a:avLst/>
          </a:prstGeom>
          <a:noFill/>
          <a:ln/>
        </p:spPr>
        <p:txBody>
          <a:bodyPr wrap="square" lIns="0" tIns="0" rIns="0" bIns="0" rtlCol="0" anchor="t"/>
          <a:lstStyle>
            <a:lvl1pPr algn="l" indent="0" marL="0">
              <a:lnSpc>
                <a:spcPct val="140000"/>
              </a:lnSpc>
              <a:buNone/>
              <a:defRPr lang="en-US" sz="1600" dirty="0">
                <a:solidFill>
                  <a:srgbClr val="14232E"/>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2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14232E"/>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490"/>
            <a:ext cx="10566400" cy="4424710"/>
          </a:xfrm>
          <a:prstGeom prst="rect">
            <a:avLst/>
          </a:prstGeom>
          <a:noFill/>
          <a:ln/>
        </p:spPr>
        <p:txBody>
          <a:bodyPr wrap="square" lIns="0" tIns="0" rIns="0" bIns="0" rtlCol="0" anchor="t"/>
          <a:lstStyle>
            <a:lvl1pPr algn="l" indent="0" marL="0">
              <a:lnSpc>
                <a:spcPct val="140000"/>
              </a:lnSpc>
              <a:buNone/>
              <a:defRPr lang="en-US" sz="1600" dirty="0">
                <a:solidFill>
                  <a:srgbClr val="14232E"/>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32E"/>
        </a:solidFill>
      </p:bgPr>
    </p:bg>
    <p:spTree>
      <p:nvGrpSpPr>
        <p:cNvPr id="1" name=""/>
        <p:cNvGrpSpPr/>
        <p:nvPr/>
      </p:nvGrpSpPr>
      <p:grpSpPr>
        <a:xfrm>
          <a:off x="0" y="0"/>
          <a:ext cx="0" cy="0"/>
          <a:chOff x="0" y="0"/>
          <a:chExt cx="0" cy="0"/>
        </a:xfrm>
      </p:grpSpPr>
      <p:sp>
        <p:nvSpPr>
          <p:cNvPr id="2" name="Text 0"/>
          <p:cNvSpPr/>
          <p:nvPr/>
        </p:nvSpPr>
        <p:spPr>
          <a:xfrm>
            <a:off x="812800" y="81280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9AA0"/>
                </a:solidFill>
                <a:latin typeface="Inter" pitchFamily="34" charset="0"/>
                <a:ea typeface="Inter" pitchFamily="34" charset="-122"/>
                <a:cs typeface="Inter" pitchFamily="34" charset="-120"/>
              </a:rPr>
              <a:t>Final Year Project · Machine Learning</a:t>
            </a:r>
            <a:endParaRPr lang="en-US" sz="1600" dirty="0"/>
          </a:p>
        </p:txBody>
      </p:sp>
      <p:sp>
        <p:nvSpPr>
          <p:cNvPr id="3" name="Shape 1"/>
          <p:cNvSpPr/>
          <p:nvPr/>
        </p:nvSpPr>
        <p:spPr>
          <a:xfrm>
            <a:off x="812800" y="1394569"/>
            <a:ext cx="1016000" cy="50800"/>
          </a:xfrm>
          <a:prstGeom prst="rect">
            <a:avLst/>
          </a:prstGeom>
          <a:solidFill>
            <a:srgbClr val="FF9AA0"/>
          </a:solidFill>
          <a:ln/>
        </p:spPr>
      </p:sp>
      <p:sp>
        <p:nvSpPr>
          <p:cNvPr id="4" name="Text 2"/>
          <p:cNvSpPr/>
          <p:nvPr>
            <p:ph type="title"/>
          </p:nvPr>
        </p:nvSpPr>
        <p:spPr>
          <a:xfrm>
            <a:off x="812800" y="1699369"/>
            <a:ext cx="10883392" cy="2372271"/>
          </a:xfrm>
          <a:prstGeom prst="rect">
            <a:avLst/>
          </a:prstGeom>
          <a:noFill/>
          <a:ln/>
        </p:spPr>
        <p:txBody>
          <a:bodyPr wrap="square" lIns="0" tIns="0" rIns="0" bIns="0" rtlCol="0" anchor="t">
            <a:normAutofit/>
          </a:bodyPr>
          <a:lstStyle/>
          <a:p>
            <a:pPr algn="l" indent="0" marL="0">
              <a:lnSpc>
                <a:spcPts val="6160"/>
              </a:lnSpc>
              <a:buNone/>
            </a:pPr>
            <a:r>
              <a:rPr lang="en-US" sz="5600" b="1" i="0" dirty="0">
                <a:solidFill>
                  <a:srgbClr val="F5F2EC"/>
                </a:solidFill>
                <a:latin typeface="Source Serif 4" pitchFamily="18" charset="0"/>
                <a:ea typeface="Source Serif 4" pitchFamily="18" charset="-122"/>
                <a:cs typeface="Source Serif 4" pitchFamily="18" charset="-120"/>
              </a:rPr>
              <a:t>Cardiovascular Disease Prediction Using Machine Learning</a:t>
            </a:r>
            <a:endParaRPr lang="en-US" sz="5600" dirty="0"/>
          </a:p>
        </p:txBody>
      </p:sp>
      <p:sp>
        <p:nvSpPr>
          <p:cNvPr id="5" name="Text 3"/>
          <p:cNvSpPr/>
          <p:nvPr/>
        </p:nvSpPr>
        <p:spPr>
          <a:xfrm>
            <a:off x="812800" y="4300240"/>
            <a:ext cx="10883392"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C9D3D8"/>
                </a:solidFill>
                <a:latin typeface="Inter" pitchFamily="34" charset="0"/>
                <a:ea typeface="Inter" pitchFamily="34" charset="-122"/>
                <a:cs typeface="Inter" pitchFamily="34" charset="-120"/>
              </a:rPr>
              <a:t>Comparing seven classification models on 70,000 real patient examination records</a:t>
            </a:r>
            <a:endParaRPr lang="en-US" sz="1800" dirty="0"/>
          </a:p>
        </p:txBody>
      </p:sp>
      <p:sp>
        <p:nvSpPr>
          <p:cNvPr id="6" name="Text 4"/>
          <p:cNvSpPr/>
          <p:nvPr/>
        </p:nvSpPr>
        <p:spPr>
          <a:xfrm>
            <a:off x="812800" y="4894659"/>
            <a:ext cx="10883392"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5F2EC"/>
                </a:solidFill>
                <a:latin typeface="Inter" pitchFamily="34" charset="0"/>
                <a:ea typeface="Inter" pitchFamily="34" charset="-122"/>
                <a:cs typeface="Inter" pitchFamily="34" charset="-120"/>
              </a:rPr>
              <a:t>Md Abu Said · CS 2203048</a:t>
            </a:r>
            <a:endParaRPr lang="en-US" sz="1800" dirty="0"/>
          </a:p>
        </p:txBody>
      </p:sp>
      <p:sp>
        <p:nvSpPr>
          <p:cNvPr id="7" name="Text 5"/>
          <p:cNvSpPr/>
          <p:nvPr/>
        </p:nvSpPr>
        <p:spPr>
          <a:xfrm>
            <a:off x="812800" y="5265489"/>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D8"/>
                </a:solidFill>
                <a:latin typeface="Inter" pitchFamily="34" charset="0"/>
                <a:ea typeface="Inter" pitchFamily="34" charset="-122"/>
                <a:cs typeface="Inter" pitchFamily="34" charset="-120"/>
              </a:rPr>
              <a:t>Supervisor: Tanvir Ahmed</a:t>
            </a:r>
            <a:endParaRPr lang="en-US" sz="1400" dirty="0"/>
          </a:p>
        </p:txBody>
      </p:sp>
      <p:sp>
        <p:nvSpPr>
          <p:cNvPr id="8" name="Text 6"/>
          <p:cNvSpPr/>
          <p:nvPr/>
        </p:nvSpPr>
        <p:spPr>
          <a:xfrm>
            <a:off x="812800" y="5565180"/>
            <a:ext cx="10883392"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A9B6BD"/>
                </a:solidFill>
                <a:latin typeface="Inter" pitchFamily="34" charset="0"/>
                <a:ea typeface="Inter" pitchFamily="34" charset="-122"/>
                <a:cs typeface="Inter" pitchFamily="34" charset="-120"/>
              </a:rPr>
              <a:t>Department of Computer Science and Engineering (CSE)</a:t>
            </a:r>
            <a:endParaRPr lang="en-US" sz="1400" dirty="0"/>
          </a:p>
          <a:p>
            <a:pPr algn="l" indent="0" marL="0">
              <a:lnSpc>
                <a:spcPts val="1890"/>
              </a:lnSpc>
              <a:buNone/>
            </a:pPr>
            <a:r>
              <a:rPr lang="en-US" sz="1400" dirty="0">
                <a:solidFill>
                  <a:srgbClr val="A9B6BD"/>
                </a:solidFill>
                <a:latin typeface="Inter" pitchFamily="34" charset="0"/>
                <a:ea typeface="Inter" pitchFamily="34" charset="-122"/>
                <a:cs typeface="Inter" pitchFamily="34" charset="-120"/>
              </a:rPr>
              <a:t>National Institute of Textile Engineering and Research (NITER)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2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32E"/>
                </a:solidFill>
                <a:latin typeface="Source Serif 4" pitchFamily="18" charset="0"/>
                <a:ea typeface="Source Serif 4" pitchFamily="18" charset="-122"/>
                <a:cs typeface="Source Serif 4" pitchFamily="18" charset="-120"/>
              </a:rPr>
              <a:t>Project goal</a:t>
            </a:r>
            <a:endParaRPr lang="en-US" sz="3600" dirty="0"/>
          </a:p>
        </p:txBody>
      </p:sp>
      <p:sp>
        <p:nvSpPr>
          <p:cNvPr id="3" name="Text 1"/>
          <p:cNvSpPr/>
          <p:nvPr/>
        </p:nvSpPr>
        <p:spPr>
          <a:xfrm>
            <a:off x="812800" y="2381597"/>
            <a:ext cx="10883392" cy="75178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14232E"/>
                </a:solidFill>
                <a:latin typeface="Inter" pitchFamily="34" charset="0"/>
                <a:ea typeface="Inter" pitchFamily="34" charset="-122"/>
                <a:cs typeface="Inter" pitchFamily="34" charset="-120"/>
              </a:rPr>
              <a:t>Predict whether a patient has cardiovascular disease from 11 examination and lifestyle measurements, then find which algorithm does it best.</a:t>
            </a:r>
            <a:endParaRPr lang="en-US" sz="2200" dirty="0"/>
          </a:p>
        </p:txBody>
      </p:sp>
      <p:sp>
        <p:nvSpPr>
          <p:cNvPr id="4" name="Shape 2"/>
          <p:cNvSpPr/>
          <p:nvPr/>
        </p:nvSpPr>
        <p:spPr>
          <a:xfrm>
            <a:off x="815975" y="4177060"/>
            <a:ext cx="3380284" cy="1661765"/>
          </a:xfrm>
          <a:prstGeom prst="roundRect">
            <a:avLst>
              <a:gd name="adj" fmla="val 5923"/>
            </a:avLst>
          </a:prstGeom>
          <a:solidFill>
            <a:srgbClr val="FFFFFF"/>
          </a:solidFill>
          <a:ln w="6350">
            <a:solidFill>
              <a:srgbClr val="E3DDD2"/>
            </a:solidFill>
            <a:prstDash val="solid"/>
          </a:ln>
        </p:spPr>
      </p:sp>
      <p:sp>
        <p:nvSpPr>
          <p:cNvPr id="5" name="Text 3"/>
          <p:cNvSpPr/>
          <p:nvPr/>
        </p:nvSpPr>
        <p:spPr>
          <a:xfrm>
            <a:off x="1073150" y="4434235"/>
            <a:ext cx="2951912"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8323F"/>
                </a:solidFill>
                <a:latin typeface="Inter" pitchFamily="34" charset="0"/>
                <a:ea typeface="Inter" pitchFamily="34" charset="-122"/>
                <a:cs typeface="Inter" pitchFamily="34" charset="-120"/>
              </a:rPr>
              <a:t>Predict</a:t>
            </a:r>
            <a:endParaRPr lang="en-US" sz="1800" dirty="0"/>
          </a:p>
        </p:txBody>
      </p:sp>
      <p:sp>
        <p:nvSpPr>
          <p:cNvPr id="6" name="Text 4"/>
          <p:cNvSpPr/>
          <p:nvPr/>
        </p:nvSpPr>
        <p:spPr>
          <a:xfrm>
            <a:off x="1073150" y="4810125"/>
            <a:ext cx="2951912"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3D4A53"/>
                </a:solidFill>
                <a:latin typeface="Inter" pitchFamily="34" charset="0"/>
                <a:ea typeface="Inter" pitchFamily="34" charset="-122"/>
                <a:cs typeface="Inter" pitchFamily="34" charset="-120"/>
              </a:rPr>
              <a:t>Binary target: cardio is 1 (disease) or 0 (no disease).</a:t>
            </a:r>
            <a:endParaRPr lang="en-US" sz="1500" dirty="0"/>
          </a:p>
        </p:txBody>
      </p:sp>
      <p:sp>
        <p:nvSpPr>
          <p:cNvPr id="7" name="Shape 5"/>
          <p:cNvSpPr/>
          <p:nvPr/>
        </p:nvSpPr>
        <p:spPr>
          <a:xfrm>
            <a:off x="4405809" y="4177060"/>
            <a:ext cx="3380333" cy="1661765"/>
          </a:xfrm>
          <a:prstGeom prst="roundRect">
            <a:avLst>
              <a:gd name="adj" fmla="val 5923"/>
            </a:avLst>
          </a:prstGeom>
          <a:solidFill>
            <a:srgbClr val="FFFFFF"/>
          </a:solidFill>
          <a:ln w="6350">
            <a:solidFill>
              <a:srgbClr val="E3DDD2"/>
            </a:solidFill>
            <a:prstDash val="solid"/>
          </a:ln>
        </p:spPr>
      </p:sp>
      <p:sp>
        <p:nvSpPr>
          <p:cNvPr id="8" name="Text 6"/>
          <p:cNvSpPr/>
          <p:nvPr/>
        </p:nvSpPr>
        <p:spPr>
          <a:xfrm>
            <a:off x="4662984" y="4434235"/>
            <a:ext cx="2951963"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8323F"/>
                </a:solidFill>
                <a:latin typeface="Inter" pitchFamily="34" charset="0"/>
                <a:ea typeface="Inter" pitchFamily="34" charset="-122"/>
                <a:cs typeface="Inter" pitchFamily="34" charset="-120"/>
              </a:rPr>
              <a:t>Compare</a:t>
            </a:r>
            <a:endParaRPr lang="en-US" sz="1800" dirty="0"/>
          </a:p>
        </p:txBody>
      </p:sp>
      <p:sp>
        <p:nvSpPr>
          <p:cNvPr id="9" name="Text 7"/>
          <p:cNvSpPr/>
          <p:nvPr/>
        </p:nvSpPr>
        <p:spPr>
          <a:xfrm>
            <a:off x="4662984" y="4810125"/>
            <a:ext cx="2951963"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3D4A53"/>
                </a:solidFill>
                <a:latin typeface="Inter" pitchFamily="34" charset="0"/>
                <a:ea typeface="Inter" pitchFamily="34" charset="-122"/>
                <a:cs typeface="Inter" pitchFamily="34" charset="-120"/>
              </a:rPr>
              <a:t>Seven algorithms trained on exactly the same data split.</a:t>
            </a:r>
            <a:endParaRPr lang="en-US" sz="1500" dirty="0"/>
          </a:p>
        </p:txBody>
      </p:sp>
      <p:sp>
        <p:nvSpPr>
          <p:cNvPr id="10" name="Shape 8"/>
          <p:cNvSpPr/>
          <p:nvPr/>
        </p:nvSpPr>
        <p:spPr>
          <a:xfrm>
            <a:off x="7995692" y="4177060"/>
            <a:ext cx="3380333" cy="1661765"/>
          </a:xfrm>
          <a:prstGeom prst="roundRect">
            <a:avLst>
              <a:gd name="adj" fmla="val 5923"/>
            </a:avLst>
          </a:prstGeom>
          <a:solidFill>
            <a:srgbClr val="FFFFFF"/>
          </a:solidFill>
          <a:ln w="6350">
            <a:solidFill>
              <a:srgbClr val="E3DDD2"/>
            </a:solidFill>
            <a:prstDash val="solid"/>
          </a:ln>
        </p:spPr>
      </p:sp>
      <p:sp>
        <p:nvSpPr>
          <p:cNvPr id="11" name="Text 9"/>
          <p:cNvSpPr/>
          <p:nvPr/>
        </p:nvSpPr>
        <p:spPr>
          <a:xfrm>
            <a:off x="8252867" y="4434235"/>
            <a:ext cx="2951963"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8323F"/>
                </a:solidFill>
                <a:latin typeface="Inter" pitchFamily="34" charset="0"/>
                <a:ea typeface="Inter" pitchFamily="34" charset="-122"/>
                <a:cs typeface="Inter" pitchFamily="34" charset="-120"/>
              </a:rPr>
              <a:t>Evaluate</a:t>
            </a:r>
            <a:endParaRPr lang="en-US" sz="1800" dirty="0"/>
          </a:p>
        </p:txBody>
      </p:sp>
      <p:sp>
        <p:nvSpPr>
          <p:cNvPr id="12" name="Text 10"/>
          <p:cNvSpPr/>
          <p:nvPr/>
        </p:nvSpPr>
        <p:spPr>
          <a:xfrm>
            <a:off x="8252867" y="4810125"/>
            <a:ext cx="2951963"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3D4A53"/>
                </a:solidFill>
                <a:latin typeface="Inter" pitchFamily="34" charset="0"/>
                <a:ea typeface="Inter" pitchFamily="34" charset="-122"/>
                <a:cs typeface="Inter" pitchFamily="34" charset="-120"/>
              </a:rPr>
              <a:t>Accuracy, precision, recall, F1 and ROC-AUC on unseen test data.</a:t>
            </a:r>
            <a:endParaRPr lang="en-US" sz="15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A73"/>
                </a:solidFill>
                <a:latin typeface="Inter" pitchFamily="34" charset="0"/>
                <a:ea typeface="Inter" pitchFamily="34" charset="-122"/>
                <a:cs typeface="Inter" pitchFamily="34" charset="-120"/>
              </a:rPr>
              <a:t>Cardiovascular Disease Prediction Using Machine Learning · 2 / 12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232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5F2EC"/>
                </a:solidFill>
                <a:latin typeface="Source Serif 4" pitchFamily="18" charset="0"/>
                <a:ea typeface="Source Serif 4" pitchFamily="18" charset="-122"/>
                <a:cs typeface="Source Serif 4" pitchFamily="18" charset="-120"/>
              </a:rPr>
              <a:t>The dataset</a:t>
            </a:r>
            <a:endParaRPr lang="en-US" sz="3600" dirty="0"/>
          </a:p>
        </p:txBody>
      </p:sp>
      <p:sp>
        <p:nvSpPr>
          <p:cNvPr id="3" name="Shape 1"/>
          <p:cNvSpPr/>
          <p:nvPr/>
        </p:nvSpPr>
        <p:spPr>
          <a:xfrm>
            <a:off x="812800" y="2337445"/>
            <a:ext cx="2489200" cy="1913880"/>
          </a:xfrm>
          <a:prstGeom prst="roundRect">
            <a:avLst>
              <a:gd name="adj" fmla="val 5309"/>
            </a:avLst>
          </a:prstGeom>
          <a:solidFill>
            <a:srgbClr val="1D3341"/>
          </a:solidFill>
          <a:ln/>
        </p:spPr>
      </p:sp>
      <p:sp>
        <p:nvSpPr>
          <p:cNvPr id="4" name="Text 2"/>
          <p:cNvSpPr/>
          <p:nvPr/>
        </p:nvSpPr>
        <p:spPr>
          <a:xfrm>
            <a:off x="1066800" y="2591445"/>
            <a:ext cx="2235200" cy="612130"/>
          </a:xfrm>
          <a:prstGeom prst="rect">
            <a:avLst/>
          </a:prstGeom>
          <a:noFill/>
          <a:ln/>
        </p:spPr>
        <p:txBody>
          <a:bodyPr wrap="square" lIns="0" tIns="0" rIns="0" bIns="0" rtlCol="0" anchor="t">
            <a:normAutofit/>
          </a:bodyPr>
          <a:lstStyle/>
          <a:p>
            <a:pPr algn="l" indent="0" marL="0">
              <a:lnSpc>
                <a:spcPts val="4620"/>
              </a:lnSpc>
              <a:buNone/>
            </a:pPr>
            <a:r>
              <a:rPr lang="en-US" sz="4400" b="1" dirty="0">
                <a:solidFill>
                  <a:srgbClr val="FF9AA0"/>
                </a:solidFill>
                <a:latin typeface="Inter" pitchFamily="34" charset="0"/>
                <a:ea typeface="Inter" pitchFamily="34" charset="-122"/>
                <a:cs typeface="Inter" pitchFamily="34" charset="-120"/>
              </a:rPr>
              <a:t>70,000</a:t>
            </a:r>
            <a:endParaRPr lang="en-US" sz="4400" dirty="0"/>
          </a:p>
        </p:txBody>
      </p:sp>
      <p:sp>
        <p:nvSpPr>
          <p:cNvPr id="5" name="Text 3"/>
          <p:cNvSpPr/>
          <p:nvPr/>
        </p:nvSpPr>
        <p:spPr>
          <a:xfrm>
            <a:off x="1066800" y="3254375"/>
            <a:ext cx="2040636"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C9D3D8"/>
                </a:solidFill>
                <a:latin typeface="Inter" pitchFamily="34" charset="0"/>
                <a:ea typeface="Inter" pitchFamily="34" charset="-122"/>
                <a:cs typeface="Inter" pitchFamily="34" charset="-120"/>
              </a:rPr>
              <a:t>patient records (rows)</a:t>
            </a:r>
            <a:endParaRPr lang="en-US" sz="1500" dirty="0"/>
          </a:p>
        </p:txBody>
      </p:sp>
      <p:sp>
        <p:nvSpPr>
          <p:cNvPr id="6" name="Shape 4"/>
          <p:cNvSpPr/>
          <p:nvPr/>
        </p:nvSpPr>
        <p:spPr>
          <a:xfrm>
            <a:off x="3505200" y="2337445"/>
            <a:ext cx="2489200" cy="1913880"/>
          </a:xfrm>
          <a:prstGeom prst="roundRect">
            <a:avLst>
              <a:gd name="adj" fmla="val 5309"/>
            </a:avLst>
          </a:prstGeom>
          <a:solidFill>
            <a:srgbClr val="1D3341"/>
          </a:solidFill>
          <a:ln/>
        </p:spPr>
      </p:sp>
      <p:sp>
        <p:nvSpPr>
          <p:cNvPr id="7" name="Text 5"/>
          <p:cNvSpPr/>
          <p:nvPr/>
        </p:nvSpPr>
        <p:spPr>
          <a:xfrm>
            <a:off x="3759200" y="2591445"/>
            <a:ext cx="2040636" cy="612130"/>
          </a:xfrm>
          <a:prstGeom prst="rect">
            <a:avLst/>
          </a:prstGeom>
          <a:noFill/>
          <a:ln/>
        </p:spPr>
        <p:txBody>
          <a:bodyPr wrap="square" lIns="0" tIns="0" rIns="0" bIns="0" rtlCol="0" anchor="t">
            <a:normAutofit/>
          </a:bodyPr>
          <a:lstStyle/>
          <a:p>
            <a:pPr algn="l" indent="0" marL="0">
              <a:lnSpc>
                <a:spcPts val="4620"/>
              </a:lnSpc>
              <a:buNone/>
            </a:pPr>
            <a:r>
              <a:rPr lang="en-US" sz="4400" b="1" dirty="0">
                <a:solidFill>
                  <a:srgbClr val="FF9AA0"/>
                </a:solidFill>
                <a:latin typeface="Inter" pitchFamily="34" charset="0"/>
                <a:ea typeface="Inter" pitchFamily="34" charset="-122"/>
                <a:cs typeface="Inter" pitchFamily="34" charset="-120"/>
              </a:rPr>
              <a:t>11</a:t>
            </a:r>
            <a:endParaRPr lang="en-US" sz="4400" dirty="0"/>
          </a:p>
        </p:txBody>
      </p:sp>
      <p:sp>
        <p:nvSpPr>
          <p:cNvPr id="8" name="Text 6"/>
          <p:cNvSpPr/>
          <p:nvPr/>
        </p:nvSpPr>
        <p:spPr>
          <a:xfrm>
            <a:off x="3759200" y="3254375"/>
            <a:ext cx="2040636"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C9D3D8"/>
                </a:solidFill>
                <a:latin typeface="Inter" pitchFamily="34" charset="0"/>
                <a:ea typeface="Inter" pitchFamily="34" charset="-122"/>
                <a:cs typeface="Inter" pitchFamily="34" charset="-120"/>
              </a:rPr>
              <a:t>features, plus 1 target (cardio)</a:t>
            </a:r>
            <a:endParaRPr lang="en-US" sz="1500" dirty="0"/>
          </a:p>
        </p:txBody>
      </p:sp>
      <p:sp>
        <p:nvSpPr>
          <p:cNvPr id="9" name="Shape 7"/>
          <p:cNvSpPr/>
          <p:nvPr/>
        </p:nvSpPr>
        <p:spPr>
          <a:xfrm>
            <a:off x="6197600" y="2337445"/>
            <a:ext cx="2489200" cy="1913880"/>
          </a:xfrm>
          <a:prstGeom prst="roundRect">
            <a:avLst>
              <a:gd name="adj" fmla="val 5309"/>
            </a:avLst>
          </a:prstGeom>
          <a:solidFill>
            <a:srgbClr val="1D3341"/>
          </a:solidFill>
          <a:ln/>
        </p:spPr>
      </p:sp>
      <p:sp>
        <p:nvSpPr>
          <p:cNvPr id="10" name="Text 8"/>
          <p:cNvSpPr/>
          <p:nvPr/>
        </p:nvSpPr>
        <p:spPr>
          <a:xfrm>
            <a:off x="6451600" y="2591445"/>
            <a:ext cx="2040636" cy="612130"/>
          </a:xfrm>
          <a:prstGeom prst="rect">
            <a:avLst/>
          </a:prstGeom>
          <a:noFill/>
          <a:ln/>
        </p:spPr>
        <p:txBody>
          <a:bodyPr wrap="square" lIns="0" tIns="0" rIns="0" bIns="0" rtlCol="0" anchor="t">
            <a:normAutofit/>
          </a:bodyPr>
          <a:lstStyle/>
          <a:p>
            <a:pPr algn="l" indent="0" marL="0">
              <a:lnSpc>
                <a:spcPts val="4620"/>
              </a:lnSpc>
              <a:buNone/>
            </a:pPr>
            <a:r>
              <a:rPr lang="en-US" sz="4400" b="1" dirty="0">
                <a:solidFill>
                  <a:srgbClr val="FF9AA0"/>
                </a:solidFill>
                <a:latin typeface="Inter" pitchFamily="34" charset="0"/>
                <a:ea typeface="Inter" pitchFamily="34" charset="-122"/>
                <a:cs typeface="Inter" pitchFamily="34" charset="-120"/>
              </a:rPr>
              <a:t>50%</a:t>
            </a:r>
            <a:endParaRPr lang="en-US" sz="4400" dirty="0"/>
          </a:p>
        </p:txBody>
      </p:sp>
      <p:sp>
        <p:nvSpPr>
          <p:cNvPr id="11" name="Text 9"/>
          <p:cNvSpPr/>
          <p:nvPr/>
        </p:nvSpPr>
        <p:spPr>
          <a:xfrm>
            <a:off x="6451600" y="3254375"/>
            <a:ext cx="2040636"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C9D3D8"/>
                </a:solidFill>
                <a:latin typeface="Inter" pitchFamily="34" charset="0"/>
                <a:ea typeface="Inter" pitchFamily="34" charset="-122"/>
                <a:cs typeface="Inter" pitchFamily="34" charset="-120"/>
              </a:rPr>
              <a:t>have the disease (34,979 of 70,000)</a:t>
            </a:r>
            <a:endParaRPr lang="en-US" sz="1500" dirty="0"/>
          </a:p>
        </p:txBody>
      </p:sp>
      <p:sp>
        <p:nvSpPr>
          <p:cNvPr id="12" name="Shape 10"/>
          <p:cNvSpPr/>
          <p:nvPr/>
        </p:nvSpPr>
        <p:spPr>
          <a:xfrm>
            <a:off x="8890000" y="2337445"/>
            <a:ext cx="2489200" cy="1913880"/>
          </a:xfrm>
          <a:prstGeom prst="roundRect">
            <a:avLst>
              <a:gd name="adj" fmla="val 5309"/>
            </a:avLst>
          </a:prstGeom>
          <a:solidFill>
            <a:srgbClr val="1D3341"/>
          </a:solidFill>
          <a:ln/>
        </p:spPr>
      </p:sp>
      <p:sp>
        <p:nvSpPr>
          <p:cNvPr id="13" name="Text 11"/>
          <p:cNvSpPr/>
          <p:nvPr/>
        </p:nvSpPr>
        <p:spPr>
          <a:xfrm>
            <a:off x="9144000" y="2591445"/>
            <a:ext cx="2040636" cy="612130"/>
          </a:xfrm>
          <a:prstGeom prst="rect">
            <a:avLst/>
          </a:prstGeom>
          <a:noFill/>
          <a:ln/>
        </p:spPr>
        <p:txBody>
          <a:bodyPr wrap="square" lIns="0" tIns="0" rIns="0" bIns="0" rtlCol="0" anchor="t">
            <a:normAutofit/>
          </a:bodyPr>
          <a:lstStyle/>
          <a:p>
            <a:pPr algn="l" indent="0" marL="0">
              <a:lnSpc>
                <a:spcPts val="4620"/>
              </a:lnSpc>
              <a:buNone/>
            </a:pPr>
            <a:r>
              <a:rPr lang="en-US" sz="4400" b="1" dirty="0">
                <a:solidFill>
                  <a:srgbClr val="FF9AA0"/>
                </a:solidFill>
                <a:latin typeface="Inter" pitchFamily="34" charset="0"/>
                <a:ea typeface="Inter" pitchFamily="34" charset="-122"/>
                <a:cs typeface="Inter" pitchFamily="34" charset="-120"/>
              </a:rPr>
              <a:t>1,409</a:t>
            </a:r>
            <a:endParaRPr lang="en-US" sz="4400" dirty="0"/>
          </a:p>
        </p:txBody>
      </p:sp>
      <p:sp>
        <p:nvSpPr>
          <p:cNvPr id="14" name="Text 12"/>
          <p:cNvSpPr/>
          <p:nvPr/>
        </p:nvSpPr>
        <p:spPr>
          <a:xfrm>
            <a:off x="9144000" y="3254375"/>
            <a:ext cx="2040636" cy="7683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C9D3D8"/>
                </a:solidFill>
                <a:latin typeface="Inter" pitchFamily="34" charset="0"/>
                <a:ea typeface="Inter" pitchFamily="34" charset="-122"/>
                <a:cs typeface="Inter" pitchFamily="34" charset="-120"/>
              </a:rPr>
              <a:t>rows removed in cleaning (68,591 kept)</a:t>
            </a:r>
            <a:endParaRPr lang="en-US" sz="1500" dirty="0"/>
          </a:p>
        </p:txBody>
      </p:sp>
      <p:sp>
        <p:nvSpPr>
          <p:cNvPr id="15" name="Text 13"/>
          <p:cNvSpPr/>
          <p:nvPr/>
        </p:nvSpPr>
        <p:spPr>
          <a:xfrm>
            <a:off x="812800" y="5273080"/>
            <a:ext cx="1088339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5F2EC"/>
                </a:solidFill>
                <a:latin typeface="Inter" pitchFamily="34" charset="0"/>
                <a:ea typeface="Inter" pitchFamily="34" charset="-122"/>
                <a:cs typeface="Inter" pitchFamily="34" charset="-120"/>
              </a:rPr>
              <a:t>Real medical examination data (Kaggle Cardiovascular Disease dataset): age, gender, height, weight, blood pressure, cholesterol, glucose, smoking, alcohol and physical activity.</a:t>
            </a:r>
            <a:endParaRPr lang="en-US" sz="16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6BD"/>
                </a:solidFill>
                <a:latin typeface="Inter" pitchFamily="34" charset="0"/>
                <a:ea typeface="Inter" pitchFamily="34" charset="-122"/>
                <a:cs typeface="Inter" pitchFamily="34" charset="-120"/>
              </a:rPr>
              <a:t>Cardiovascular Disease Prediction Using Machine Learning · 3 / 12</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2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32E"/>
                </a:solidFill>
                <a:latin typeface="Source Serif 4" pitchFamily="18" charset="0"/>
                <a:ea typeface="Source Serif 4" pitchFamily="18" charset="-122"/>
                <a:cs typeface="Source Serif 4" pitchFamily="18" charset="-120"/>
              </a:rPr>
              <a:t>Data preparation</a:t>
            </a:r>
            <a:endParaRPr lang="en-US" sz="3600" dirty="0"/>
          </a:p>
        </p:txBody>
      </p:sp>
      <p:sp>
        <p:nvSpPr>
          <p:cNvPr id="3" name="Shape 1"/>
          <p:cNvSpPr/>
          <p:nvPr/>
        </p:nvSpPr>
        <p:spPr>
          <a:xfrm>
            <a:off x="815975" y="3020814"/>
            <a:ext cx="5175250" cy="1304230"/>
          </a:xfrm>
          <a:prstGeom prst="roundRect">
            <a:avLst>
              <a:gd name="adj" fmla="val 7547"/>
            </a:avLst>
          </a:prstGeom>
          <a:solidFill>
            <a:srgbClr val="FFFFFF"/>
          </a:solidFill>
          <a:ln w="6350">
            <a:solidFill>
              <a:srgbClr val="E3DDD2"/>
            </a:solidFill>
            <a:prstDash val="solid"/>
          </a:ln>
        </p:spPr>
      </p:sp>
      <p:sp>
        <p:nvSpPr>
          <p:cNvPr id="4" name="Text 2"/>
          <p:cNvSpPr/>
          <p:nvPr/>
        </p:nvSpPr>
        <p:spPr>
          <a:xfrm>
            <a:off x="1047750" y="3252589"/>
            <a:ext cx="4853051"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B8323F"/>
                </a:solidFill>
                <a:latin typeface="Inter" pitchFamily="34" charset="0"/>
                <a:ea typeface="Inter" pitchFamily="34" charset="-122"/>
                <a:cs typeface="Inter" pitchFamily="34" charset="-120"/>
              </a:rPr>
              <a:t>1. Clean the data</a:t>
            </a:r>
            <a:endParaRPr lang="en-US" sz="1700" dirty="0"/>
          </a:p>
        </p:txBody>
      </p:sp>
      <p:sp>
        <p:nvSpPr>
          <p:cNvPr id="5" name="Text 3"/>
          <p:cNvSpPr/>
          <p:nvPr/>
        </p:nvSpPr>
        <p:spPr>
          <a:xfrm>
            <a:off x="1047750" y="3613249"/>
            <a:ext cx="4853051"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D4A53"/>
                </a:solidFill>
                <a:latin typeface="Inter" pitchFamily="34" charset="0"/>
                <a:ea typeface="Inter" pitchFamily="34" charset="-122"/>
                <a:cs typeface="Inter" pitchFamily="34" charset="-120"/>
              </a:rPr>
              <a:t>Age from days to years; remove impossible blood pressure, height and weight values and duplicates.</a:t>
            </a:r>
            <a:endParaRPr lang="en-US" sz="1400" dirty="0"/>
          </a:p>
        </p:txBody>
      </p:sp>
      <p:sp>
        <p:nvSpPr>
          <p:cNvPr id="6" name="Shape 4"/>
          <p:cNvSpPr/>
          <p:nvPr/>
        </p:nvSpPr>
        <p:spPr>
          <a:xfrm>
            <a:off x="6200775" y="3020814"/>
            <a:ext cx="5175250" cy="1304230"/>
          </a:xfrm>
          <a:prstGeom prst="roundRect">
            <a:avLst>
              <a:gd name="adj" fmla="val 7547"/>
            </a:avLst>
          </a:prstGeom>
          <a:solidFill>
            <a:srgbClr val="FFFFFF"/>
          </a:solidFill>
          <a:ln w="6350">
            <a:solidFill>
              <a:srgbClr val="E3DDD2"/>
            </a:solidFill>
            <a:prstDash val="solid"/>
          </a:ln>
        </p:spPr>
      </p:sp>
      <p:sp>
        <p:nvSpPr>
          <p:cNvPr id="7" name="Text 5"/>
          <p:cNvSpPr/>
          <p:nvPr/>
        </p:nvSpPr>
        <p:spPr>
          <a:xfrm>
            <a:off x="6432550" y="3252589"/>
            <a:ext cx="4853051"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B8323F"/>
                </a:solidFill>
                <a:latin typeface="Inter" pitchFamily="34" charset="0"/>
                <a:ea typeface="Inter" pitchFamily="34" charset="-122"/>
                <a:cs typeface="Inter" pitchFamily="34" charset="-120"/>
              </a:rPr>
              <a:t>2. Features ready</a:t>
            </a:r>
            <a:endParaRPr lang="en-US" sz="1700" dirty="0"/>
          </a:p>
        </p:txBody>
      </p:sp>
      <p:sp>
        <p:nvSpPr>
          <p:cNvPr id="8" name="Text 6"/>
          <p:cNvSpPr/>
          <p:nvPr/>
        </p:nvSpPr>
        <p:spPr>
          <a:xfrm>
            <a:off x="6432550" y="3613249"/>
            <a:ext cx="4853051"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D4A53"/>
                </a:solidFill>
                <a:latin typeface="Inter" pitchFamily="34" charset="0"/>
                <a:ea typeface="Inter" pitchFamily="34" charset="-122"/>
                <a:cs typeface="Inter" pitchFamily="34" charset="-120"/>
              </a:rPr>
              <a:t>All 11 features are already numeric, so no text encoding is needed.</a:t>
            </a:r>
            <a:endParaRPr lang="en-US" sz="1400" dirty="0"/>
          </a:p>
        </p:txBody>
      </p:sp>
      <p:sp>
        <p:nvSpPr>
          <p:cNvPr id="9" name="Shape 7"/>
          <p:cNvSpPr/>
          <p:nvPr/>
        </p:nvSpPr>
        <p:spPr>
          <a:xfrm>
            <a:off x="815975" y="4534595"/>
            <a:ext cx="5175250" cy="1304230"/>
          </a:xfrm>
          <a:prstGeom prst="roundRect">
            <a:avLst>
              <a:gd name="adj" fmla="val 7547"/>
            </a:avLst>
          </a:prstGeom>
          <a:solidFill>
            <a:srgbClr val="FFFFFF"/>
          </a:solidFill>
          <a:ln w="6350">
            <a:solidFill>
              <a:srgbClr val="E3DDD2"/>
            </a:solidFill>
            <a:prstDash val="solid"/>
          </a:ln>
        </p:spPr>
      </p:sp>
      <p:sp>
        <p:nvSpPr>
          <p:cNvPr id="10" name="Text 8"/>
          <p:cNvSpPr/>
          <p:nvPr/>
        </p:nvSpPr>
        <p:spPr>
          <a:xfrm>
            <a:off x="1047750" y="4766370"/>
            <a:ext cx="4853051"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B8323F"/>
                </a:solidFill>
                <a:latin typeface="Inter" pitchFamily="34" charset="0"/>
                <a:ea typeface="Inter" pitchFamily="34" charset="-122"/>
                <a:cs typeface="Inter" pitchFamily="34" charset="-120"/>
              </a:rPr>
              <a:t>3. Split 70 / 15 / 15</a:t>
            </a:r>
            <a:endParaRPr lang="en-US" sz="1700" dirty="0"/>
          </a:p>
        </p:txBody>
      </p:sp>
      <p:sp>
        <p:nvSpPr>
          <p:cNvPr id="11" name="Text 9"/>
          <p:cNvSpPr/>
          <p:nvPr/>
        </p:nvSpPr>
        <p:spPr>
          <a:xfrm>
            <a:off x="1047750" y="5127030"/>
            <a:ext cx="4853051"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D4A53"/>
                </a:solidFill>
                <a:latin typeface="Inter" pitchFamily="34" charset="0"/>
                <a:ea typeface="Inter" pitchFamily="34" charset="-122"/>
                <a:cs typeface="Inter" pitchFamily="34" charset="-120"/>
              </a:rPr>
              <a:t>Train 48,013 · Validation 10,289 · Test 10,289, stratified so both classes keep the same ratio.</a:t>
            </a:r>
            <a:endParaRPr lang="en-US" sz="1400" dirty="0"/>
          </a:p>
        </p:txBody>
      </p:sp>
      <p:sp>
        <p:nvSpPr>
          <p:cNvPr id="12" name="Shape 10"/>
          <p:cNvSpPr/>
          <p:nvPr/>
        </p:nvSpPr>
        <p:spPr>
          <a:xfrm>
            <a:off x="6200775" y="4534595"/>
            <a:ext cx="5175250" cy="1304230"/>
          </a:xfrm>
          <a:prstGeom prst="roundRect">
            <a:avLst>
              <a:gd name="adj" fmla="val 7547"/>
            </a:avLst>
          </a:prstGeom>
          <a:solidFill>
            <a:srgbClr val="FFFFFF"/>
          </a:solidFill>
          <a:ln w="6350">
            <a:solidFill>
              <a:srgbClr val="E3DDD2"/>
            </a:solidFill>
            <a:prstDash val="solid"/>
          </a:ln>
        </p:spPr>
      </p:sp>
      <p:sp>
        <p:nvSpPr>
          <p:cNvPr id="13" name="Text 11"/>
          <p:cNvSpPr/>
          <p:nvPr/>
        </p:nvSpPr>
        <p:spPr>
          <a:xfrm>
            <a:off x="6432550" y="4766370"/>
            <a:ext cx="4853051"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B8323F"/>
                </a:solidFill>
                <a:latin typeface="Inter" pitchFamily="34" charset="0"/>
                <a:ea typeface="Inter" pitchFamily="34" charset="-122"/>
                <a:cs typeface="Inter" pitchFamily="34" charset="-120"/>
              </a:rPr>
              <a:t>4. Scale features</a:t>
            </a:r>
            <a:endParaRPr lang="en-US" sz="1700" dirty="0"/>
          </a:p>
        </p:txBody>
      </p:sp>
      <p:sp>
        <p:nvSpPr>
          <p:cNvPr id="14" name="Text 12"/>
          <p:cNvSpPr/>
          <p:nvPr/>
        </p:nvSpPr>
        <p:spPr>
          <a:xfrm>
            <a:off x="6432550" y="5127030"/>
            <a:ext cx="4853051"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D4A53"/>
                </a:solidFill>
                <a:latin typeface="Inter" pitchFamily="34" charset="0"/>
                <a:ea typeface="Inter" pitchFamily="34" charset="-122"/>
                <a:cs typeface="Inter" pitchFamily="34" charset="-120"/>
              </a:rPr>
              <a:t>StandardScaler is fitted on the training set only, so no test information leaks in.</a:t>
            </a:r>
            <a:endParaRPr lang="en-US" sz="1400" dirty="0"/>
          </a:p>
        </p:txBody>
      </p:sp>
      <p:sp>
        <p:nvSpPr>
          <p:cNvPr id="15"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A73"/>
                </a:solidFill>
                <a:latin typeface="Inter" pitchFamily="34" charset="0"/>
                <a:ea typeface="Inter" pitchFamily="34" charset="-122"/>
                <a:cs typeface="Inter" pitchFamily="34" charset="-120"/>
              </a:rPr>
              <a:t>Cardiovascular Disease Prediction Using Machine Learning · 4 / 12</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2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32E"/>
                </a:solidFill>
                <a:latin typeface="Source Serif 4" pitchFamily="18" charset="0"/>
                <a:ea typeface="Source Serif 4" pitchFamily="18" charset="-122"/>
                <a:cs typeface="Source Serif 4" pitchFamily="18" charset="-120"/>
              </a:rPr>
              <a:t>Seven models compared</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917700"/>
          <a:ext cx="10553700" cy="3924300"/>
        </p:xfrm>
        <a:graphic>
          <a:graphicData uri="http://schemas.openxmlformats.org/drawingml/2006/table">
            <a:tbl>
              <a:tblPr/>
              <a:tblGrid>
                <a:gridCol w="5276850"/>
                <a:gridCol w="5276850"/>
              </a:tblGrid>
              <a:tr h="457200">
                <a:tc>
                  <a:txBody>
                    <a:bodyPr/>
                    <a:lstStyle/>
                    <a:p>
                      <a:pPr indent="0" marL="0">
                        <a:lnSpc>
                          <a:spcPts val="2100"/>
                        </a:lnSpc>
                        <a:buNone/>
                      </a:pPr>
                      <a:r>
                        <a:rPr lang="en-US" sz="1500" b="1" dirty="0">
                          <a:solidFill>
                            <a:srgbClr val="F5F2EC"/>
                          </a:solidFill>
                          <a:latin typeface="Inter" pitchFamily="34" charset="0"/>
                          <a:ea typeface="Inter" pitchFamily="34" charset="-122"/>
                          <a:cs typeface="Inter" pitchFamily="34" charset="-120"/>
                        </a:rPr>
                        <a:t>Model</a:t>
                      </a:r>
                      <a:endParaRPr lang="en-US" sz="1500" dirty="0">
                        <a:latin typeface="Inter" charset="0"/>
                        <a:ea typeface="Inter" charset="0"/>
                        <a:cs typeface="Inter" charset="0"/>
                      </a:endParaRPr>
                    </a:p>
                  </a:txBody>
                  <a:tcPr marL="152400" marR="152400" marT="88900" marB="88900" anchor="t">
                    <a:lnL w="12700" cap="flat" cmpd="sng" algn="ctr">
                      <a:solidFill>
                        <a:srgbClr val="C4C1BC"/>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3E0DB"/>
                    </a:solidFill>
                  </a:tcPr>
                </a:tc>
                <a:tc>
                  <a:txBody>
                    <a:bodyPr/>
                    <a:lstStyle/>
                    <a:p>
                      <a:pPr indent="0" marL="0">
                        <a:lnSpc>
                          <a:spcPts val="2100"/>
                        </a:lnSpc>
                        <a:buNone/>
                      </a:pPr>
                      <a:r>
                        <a:rPr lang="en-US" sz="1500" b="1" dirty="0">
                          <a:solidFill>
                            <a:srgbClr val="F5F2EC"/>
                          </a:solidFill>
                          <a:latin typeface="Inter" pitchFamily="34" charset="0"/>
                          <a:ea typeface="Inter" pitchFamily="34" charset="-122"/>
                          <a:cs typeface="Inter" pitchFamily="34" charset="-120"/>
                        </a:rPr>
                        <a:t>How it decides</a:t>
                      </a:r>
                      <a:endParaRPr lang="en-US" sz="1500" dirty="0">
                        <a:latin typeface="Inter" charset="0"/>
                        <a:ea typeface="Inter" charset="0"/>
                        <a:cs typeface="Inter" charset="0"/>
                      </a:endParaRPr>
                    </a:p>
                  </a:txBody>
                  <a:tcPr marL="152400" marR="152400" marT="88900" marB="88900" anchor="t">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3E0DB"/>
                    </a:solidFill>
                  </a:tcPr>
                </a:tc>
              </a:tr>
              <a:tr h="457200">
                <a:tc>
                  <a:txBody>
                    <a:bodyPr/>
                    <a:lstStyle/>
                    <a:p>
                      <a:pPr indent="0" marL="0">
                        <a:lnSpc>
                          <a:spcPts val="2100"/>
                        </a:lnSpc>
                        <a:buNone/>
                      </a:pPr>
                      <a:r>
                        <a:rPr lang="en-US" sz="1500" dirty="0">
                          <a:solidFill>
                            <a:srgbClr val="14232E"/>
                          </a:solidFill>
                          <a:latin typeface="Inter" pitchFamily="34" charset="0"/>
                          <a:ea typeface="Inter" pitchFamily="34" charset="-122"/>
                          <a:cs typeface="Inter" pitchFamily="34" charset="-120"/>
                        </a:rPr>
                        <a:t>Logistic Regression</a:t>
                      </a:r>
                      <a:endParaRPr lang="en-US" sz="1500" dirty="0">
                        <a:latin typeface="Inter" charset="0"/>
                        <a:ea typeface="Inter" charset="0"/>
                        <a:cs typeface="Inter" charset="0"/>
                      </a:endParaRPr>
                    </a:p>
                  </a:txBody>
                  <a:tcPr marL="152400" marR="152400" marT="88900" marB="88900"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indent="0" marL="0">
                        <a:lnSpc>
                          <a:spcPts val="2100"/>
                        </a:lnSpc>
                        <a:buNone/>
                      </a:pPr>
                      <a:r>
                        <a:rPr lang="en-US" sz="1500" dirty="0">
                          <a:solidFill>
                            <a:srgbClr val="3D4A53"/>
                          </a:solidFill>
                          <a:latin typeface="Inter" pitchFamily="34" charset="0"/>
                          <a:ea typeface="Inter" pitchFamily="34" charset="-122"/>
                          <a:cs typeface="Inter" pitchFamily="34" charset="-120"/>
                        </a:rPr>
                        <a:t>Turns a weighted sum of features into a probability</a:t>
                      </a:r>
                      <a:endParaRPr lang="en-US" sz="1500" dirty="0">
                        <a:latin typeface="Inter" charset="0"/>
                        <a:ea typeface="Inter" charset="0"/>
                        <a:cs typeface="Inter" charset="0"/>
                      </a:endParaRPr>
                    </a:p>
                  </a:txBody>
                  <a:tcPr marL="152400" marR="152400" marT="88900" marB="88900"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r>
              <a:tr h="457200">
                <a:tc>
                  <a:txBody>
                    <a:bodyPr/>
                    <a:lstStyle/>
                    <a:p>
                      <a:pPr indent="0" marL="0">
                        <a:lnSpc>
                          <a:spcPts val="2100"/>
                        </a:lnSpc>
                        <a:buNone/>
                      </a:pPr>
                      <a:r>
                        <a:rPr lang="en-US" sz="1500" dirty="0">
                          <a:solidFill>
                            <a:srgbClr val="14232E"/>
                          </a:solidFill>
                          <a:latin typeface="Inter" pitchFamily="34" charset="0"/>
                          <a:ea typeface="Inter" pitchFamily="34" charset="-122"/>
                          <a:cs typeface="Inter" pitchFamily="34" charset="-120"/>
                        </a:rPr>
                        <a:t>Decision Tree</a:t>
                      </a:r>
                      <a:endParaRPr lang="en-US" sz="1500" dirty="0">
                        <a:latin typeface="Inter" charset="0"/>
                        <a:ea typeface="Inter" charset="0"/>
                        <a:cs typeface="Inter" charset="0"/>
                      </a:endParaRPr>
                    </a:p>
                  </a:txBody>
                  <a:tcPr marL="152400" marR="152400" marT="88900" marB="88900"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indent="0" marL="0">
                        <a:lnSpc>
                          <a:spcPts val="2100"/>
                        </a:lnSpc>
                        <a:buNone/>
                      </a:pPr>
                      <a:r>
                        <a:rPr lang="en-US" sz="1500" dirty="0">
                          <a:solidFill>
                            <a:srgbClr val="3D4A53"/>
                          </a:solidFill>
                          <a:latin typeface="Inter" pitchFamily="34" charset="0"/>
                          <a:ea typeface="Inter" pitchFamily="34" charset="-122"/>
                          <a:cs typeface="Inter" pitchFamily="34" charset="-120"/>
                        </a:rPr>
                        <a:t>Follows a chain of yes/no questions</a:t>
                      </a:r>
                      <a:endParaRPr lang="en-US" sz="1500" dirty="0">
                        <a:latin typeface="Inter" charset="0"/>
                        <a:ea typeface="Inter" charset="0"/>
                        <a:cs typeface="Inter" charset="0"/>
                      </a:endParaRPr>
                    </a:p>
                  </a:txBody>
                  <a:tcPr marL="152400" marR="152400" marT="88900" marB="88900"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r>
              <a:tr h="457200">
                <a:tc>
                  <a:txBody>
                    <a:bodyPr/>
                    <a:lstStyle/>
                    <a:p>
                      <a:pPr indent="0" marL="0">
                        <a:lnSpc>
                          <a:spcPts val="2100"/>
                        </a:lnSpc>
                        <a:buNone/>
                      </a:pPr>
                      <a:r>
                        <a:rPr lang="en-US" sz="1500" dirty="0">
                          <a:solidFill>
                            <a:srgbClr val="14232E"/>
                          </a:solidFill>
                          <a:latin typeface="Inter" pitchFamily="34" charset="0"/>
                          <a:ea typeface="Inter" pitchFamily="34" charset="-122"/>
                          <a:cs typeface="Inter" pitchFamily="34" charset="-120"/>
                        </a:rPr>
                        <a:t>Linear Regression</a:t>
                      </a:r>
                      <a:endParaRPr lang="en-US" sz="1500" dirty="0">
                        <a:latin typeface="Inter" charset="0"/>
                        <a:ea typeface="Inter" charset="0"/>
                        <a:cs typeface="Inter" charset="0"/>
                      </a:endParaRPr>
                    </a:p>
                  </a:txBody>
                  <a:tcPr marL="152400" marR="152400" marT="88900" marB="88900"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indent="0" marL="0">
                        <a:lnSpc>
                          <a:spcPts val="2100"/>
                        </a:lnSpc>
                        <a:buNone/>
                      </a:pPr>
                      <a:r>
                        <a:rPr lang="en-US" sz="1500" dirty="0">
                          <a:solidFill>
                            <a:srgbClr val="3D4A53"/>
                          </a:solidFill>
                          <a:latin typeface="Inter" pitchFamily="34" charset="0"/>
                          <a:ea typeface="Inter" pitchFamily="34" charset="-122"/>
                          <a:cs typeface="Inter" pitchFamily="34" charset="-120"/>
                        </a:rPr>
                        <a:t>Fits a line; output of 0.5 or more means disease</a:t>
                      </a:r>
                      <a:endParaRPr lang="en-US" sz="1500" dirty="0">
                        <a:latin typeface="Inter" charset="0"/>
                        <a:ea typeface="Inter" charset="0"/>
                        <a:cs typeface="Inter" charset="0"/>
                      </a:endParaRPr>
                    </a:p>
                  </a:txBody>
                  <a:tcPr marL="152400" marR="152400" marT="88900" marB="88900"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r>
              <a:tr h="457200">
                <a:tc>
                  <a:txBody>
                    <a:bodyPr/>
                    <a:lstStyle/>
                    <a:p>
                      <a:pPr indent="0" marL="0">
                        <a:lnSpc>
                          <a:spcPts val="2100"/>
                        </a:lnSpc>
                        <a:buNone/>
                      </a:pPr>
                      <a:r>
                        <a:rPr lang="en-US" sz="1500" dirty="0">
                          <a:solidFill>
                            <a:srgbClr val="14232E"/>
                          </a:solidFill>
                          <a:latin typeface="Inter" pitchFamily="34" charset="0"/>
                          <a:ea typeface="Inter" pitchFamily="34" charset="-122"/>
                          <a:cs typeface="Inter" pitchFamily="34" charset="-120"/>
                        </a:rPr>
                        <a:t>SVM (RBF kernel)</a:t>
                      </a:r>
                      <a:endParaRPr lang="en-US" sz="1500" dirty="0">
                        <a:latin typeface="Inter" charset="0"/>
                        <a:ea typeface="Inter" charset="0"/>
                        <a:cs typeface="Inter" charset="0"/>
                      </a:endParaRPr>
                    </a:p>
                  </a:txBody>
                  <a:tcPr marL="152400" marR="152400" marT="88900" marB="88900"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indent="0" marL="0">
                        <a:lnSpc>
                          <a:spcPts val="2100"/>
                        </a:lnSpc>
                        <a:buNone/>
                      </a:pPr>
                      <a:r>
                        <a:rPr lang="en-US" sz="1500" dirty="0">
                          <a:solidFill>
                            <a:srgbClr val="3D4A53"/>
                          </a:solidFill>
                          <a:latin typeface="Inter" pitchFamily="34" charset="0"/>
                          <a:ea typeface="Inter" pitchFamily="34" charset="-122"/>
                          <a:cs typeface="Inter" pitchFamily="34" charset="-120"/>
                        </a:rPr>
                        <a:t>Finds the best curved boundary between the classes</a:t>
                      </a:r>
                      <a:endParaRPr lang="en-US" sz="1500" dirty="0">
                        <a:latin typeface="Inter" charset="0"/>
                        <a:ea typeface="Inter" charset="0"/>
                        <a:cs typeface="Inter" charset="0"/>
                      </a:endParaRPr>
                    </a:p>
                  </a:txBody>
                  <a:tcPr marL="152400" marR="152400" marT="88900" marB="88900"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r>
              <a:tr h="457200">
                <a:tc>
                  <a:txBody>
                    <a:bodyPr/>
                    <a:lstStyle/>
                    <a:p>
                      <a:pPr indent="0" marL="0">
                        <a:lnSpc>
                          <a:spcPts val="2100"/>
                        </a:lnSpc>
                        <a:buNone/>
                      </a:pPr>
                      <a:r>
                        <a:rPr lang="en-US" sz="1500" dirty="0">
                          <a:solidFill>
                            <a:srgbClr val="14232E"/>
                          </a:solidFill>
                          <a:latin typeface="Inter" pitchFamily="34" charset="0"/>
                          <a:ea typeface="Inter" pitchFamily="34" charset="-122"/>
                          <a:cs typeface="Inter" pitchFamily="34" charset="-120"/>
                        </a:rPr>
                        <a:t>XGBoost</a:t>
                      </a:r>
                      <a:endParaRPr lang="en-US" sz="1500" dirty="0">
                        <a:latin typeface="Inter" charset="0"/>
                        <a:ea typeface="Inter" charset="0"/>
                        <a:cs typeface="Inter" charset="0"/>
                      </a:endParaRPr>
                    </a:p>
                  </a:txBody>
                  <a:tcPr marL="152400" marR="152400" marT="88900" marB="88900"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indent="0" marL="0">
                        <a:lnSpc>
                          <a:spcPts val="2100"/>
                        </a:lnSpc>
                        <a:buNone/>
                      </a:pPr>
                      <a:r>
                        <a:rPr lang="en-US" sz="1500" dirty="0">
                          <a:solidFill>
                            <a:srgbClr val="3D4A53"/>
                          </a:solidFill>
                          <a:latin typeface="Inter" pitchFamily="34" charset="0"/>
                          <a:ea typeface="Inter" pitchFamily="34" charset="-122"/>
                          <a:cs typeface="Inter" pitchFamily="34" charset="-120"/>
                        </a:rPr>
                        <a:t>Many small trees, each correcting the previous errors</a:t>
                      </a:r>
                      <a:endParaRPr lang="en-US" sz="1500" dirty="0">
                        <a:latin typeface="Inter" charset="0"/>
                        <a:ea typeface="Inter" charset="0"/>
                        <a:cs typeface="Inter" charset="0"/>
                      </a:endParaRPr>
                    </a:p>
                  </a:txBody>
                  <a:tcPr marL="152400" marR="152400" marT="88900" marB="88900"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r>
              <a:tr h="457200">
                <a:tc>
                  <a:txBody>
                    <a:bodyPr/>
                    <a:lstStyle/>
                    <a:p>
                      <a:pPr indent="0" marL="0">
                        <a:lnSpc>
                          <a:spcPts val="2100"/>
                        </a:lnSpc>
                        <a:buNone/>
                      </a:pPr>
                      <a:r>
                        <a:rPr lang="en-US" sz="1500" dirty="0">
                          <a:solidFill>
                            <a:srgbClr val="14232E"/>
                          </a:solidFill>
                          <a:latin typeface="Inter" pitchFamily="34" charset="0"/>
                          <a:ea typeface="Inter" pitchFamily="34" charset="-122"/>
                          <a:cs typeface="Inter" pitchFamily="34" charset="-120"/>
                        </a:rPr>
                        <a:t>K-Nearest Neighbors</a:t>
                      </a:r>
                      <a:endParaRPr lang="en-US" sz="1500" dirty="0">
                        <a:latin typeface="Inter" charset="0"/>
                        <a:ea typeface="Inter" charset="0"/>
                        <a:cs typeface="Inter" charset="0"/>
                      </a:endParaRPr>
                    </a:p>
                  </a:txBody>
                  <a:tcPr marL="152400" marR="152400" marT="88900" marB="88900"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indent="0" marL="0">
                        <a:lnSpc>
                          <a:spcPts val="2100"/>
                        </a:lnSpc>
                        <a:buNone/>
                      </a:pPr>
                      <a:r>
                        <a:rPr lang="en-US" sz="1500" dirty="0">
                          <a:solidFill>
                            <a:srgbClr val="3D4A53"/>
                          </a:solidFill>
                          <a:latin typeface="Inter" pitchFamily="34" charset="0"/>
                          <a:ea typeface="Inter" pitchFamily="34" charset="-122"/>
                          <a:cs typeface="Inter" pitchFamily="34" charset="-120"/>
                        </a:rPr>
                        <a:t>Takes a vote among the K most similar patients</a:t>
                      </a:r>
                      <a:endParaRPr lang="en-US" sz="1500" dirty="0">
                        <a:latin typeface="Inter" charset="0"/>
                        <a:ea typeface="Inter" charset="0"/>
                        <a:cs typeface="Inter" charset="0"/>
                      </a:endParaRPr>
                    </a:p>
                  </a:txBody>
                  <a:tcPr marL="152400" marR="152400" marT="88900" marB="88900"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r>
              <a:tr h="723900">
                <a:tc>
                  <a:txBody>
                    <a:bodyPr/>
                    <a:lstStyle/>
                    <a:p>
                      <a:pPr indent="0" marL="0">
                        <a:lnSpc>
                          <a:spcPts val="2100"/>
                        </a:lnSpc>
                        <a:buNone/>
                      </a:pPr>
                      <a:r>
                        <a:rPr lang="en-US" sz="1500" dirty="0">
                          <a:solidFill>
                            <a:srgbClr val="14232E"/>
                          </a:solidFill>
                          <a:latin typeface="Inter" pitchFamily="34" charset="0"/>
                          <a:ea typeface="Inter" pitchFamily="34" charset="-122"/>
                          <a:cs typeface="Inter" pitchFamily="34" charset="-120"/>
                        </a:rPr>
                        <a:t>1D CNN (deep learning)</a:t>
                      </a:r>
                      <a:endParaRPr lang="en-US" sz="1500" dirty="0">
                        <a:latin typeface="Inter" charset="0"/>
                        <a:ea typeface="Inter" charset="0"/>
                        <a:cs typeface="Inter" charset="0"/>
                      </a:endParaRPr>
                    </a:p>
                  </a:txBody>
                  <a:tcPr marL="152400" marR="152400" marT="88900" marB="88900"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indent="0" marL="0">
                        <a:lnSpc>
                          <a:spcPts val="2100"/>
                        </a:lnSpc>
                        <a:buNone/>
                      </a:pPr>
                      <a:r>
                        <a:rPr lang="en-US" sz="1500" dirty="0">
                          <a:solidFill>
                            <a:srgbClr val="3D4A53"/>
                          </a:solidFill>
                          <a:latin typeface="Inter" pitchFamily="34" charset="0"/>
                          <a:ea typeface="Inter" pitchFamily="34" charset="-122"/>
                          <a:cs typeface="Inter" pitchFamily="34" charset="-120"/>
                        </a:rPr>
                        <a:t>Convolution filters scan the feature sequence for patterns</a:t>
                      </a:r>
                      <a:endParaRPr lang="en-US" sz="1500" dirty="0">
                        <a:latin typeface="Inter" charset="0"/>
                        <a:ea typeface="Inter" charset="0"/>
                        <a:cs typeface="Inter" charset="0"/>
                      </a:endParaRPr>
                    </a:p>
                  </a:txBody>
                  <a:tcPr marL="152400" marR="152400" marT="88900" marB="88900"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r>
            </a:tbl>
          </a:graphicData>
        </a:graphic>
      </p:graphicFrame>
      <p:sp>
        <p:nvSpPr>
          <p:cNvPr id="4" name="Text 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A73"/>
                </a:solidFill>
                <a:latin typeface="Inter" pitchFamily="34" charset="0"/>
                <a:ea typeface="Inter" pitchFamily="34" charset="-122"/>
                <a:cs typeface="Inter" pitchFamily="34" charset="-120"/>
              </a:rPr>
              <a:t>Cardiovascular Disease Prediction Using Machine Learning · 5 / 12</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232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5F2EC"/>
                </a:solidFill>
                <a:latin typeface="Source Serif 4" pitchFamily="18" charset="0"/>
                <a:ea typeface="Source Serif 4" pitchFamily="18" charset="-122"/>
                <a:cs typeface="Source Serif 4" pitchFamily="18" charset="-120"/>
              </a:rPr>
              <a:t>Using the validation set</a:t>
            </a:r>
            <a:endParaRPr lang="en-US" sz="3600" dirty="0"/>
          </a:p>
        </p:txBody>
      </p:sp>
      <p:sp>
        <p:nvSpPr>
          <p:cNvPr id="3" name="Text 1"/>
          <p:cNvSpPr/>
          <p:nvPr/>
        </p:nvSpPr>
        <p:spPr>
          <a:xfrm>
            <a:off x="812800" y="1874589"/>
            <a:ext cx="10883392"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5F2EC"/>
                </a:solidFill>
                <a:latin typeface="Inter" pitchFamily="34" charset="0"/>
                <a:ea typeface="Inter" pitchFamily="34" charset="-122"/>
                <a:cs typeface="Inter" pitchFamily="34" charset="-120"/>
              </a:rPr>
              <a:t>The validation set tunes each model, so the test set stays untouched until the final score.</a:t>
            </a:r>
            <a:endParaRPr lang="en-US" sz="2000" dirty="0"/>
          </a:p>
        </p:txBody>
      </p:sp>
      <p:sp>
        <p:nvSpPr>
          <p:cNvPr id="4" name="Shape 2"/>
          <p:cNvSpPr/>
          <p:nvPr/>
        </p:nvSpPr>
        <p:spPr>
          <a:xfrm>
            <a:off x="812800" y="3093839"/>
            <a:ext cx="5181600" cy="1272480"/>
          </a:xfrm>
          <a:prstGeom prst="roundRect">
            <a:avLst>
              <a:gd name="adj" fmla="val 7984"/>
            </a:avLst>
          </a:prstGeom>
          <a:solidFill>
            <a:srgbClr val="1D3341"/>
          </a:solidFill>
          <a:ln/>
        </p:spPr>
      </p:sp>
      <p:sp>
        <p:nvSpPr>
          <p:cNvPr id="5" name="Text 3"/>
          <p:cNvSpPr/>
          <p:nvPr/>
        </p:nvSpPr>
        <p:spPr>
          <a:xfrm>
            <a:off x="1041400" y="3322439"/>
            <a:ext cx="486613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F9AA0"/>
                </a:solidFill>
                <a:latin typeface="Inter" pitchFamily="34" charset="0"/>
                <a:ea typeface="Inter" pitchFamily="34" charset="-122"/>
                <a:cs typeface="Inter" pitchFamily="34" charset="-120"/>
              </a:rPr>
              <a:t>Decision Tree</a:t>
            </a:r>
            <a:endParaRPr lang="en-US" sz="1700" dirty="0"/>
          </a:p>
        </p:txBody>
      </p:sp>
      <p:sp>
        <p:nvSpPr>
          <p:cNvPr id="6" name="Text 4"/>
          <p:cNvSpPr/>
          <p:nvPr/>
        </p:nvSpPr>
        <p:spPr>
          <a:xfrm>
            <a:off x="1041400" y="3657699"/>
            <a:ext cx="4866132"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C9D3D8"/>
                </a:solidFill>
                <a:latin typeface="Inter" pitchFamily="34" charset="0"/>
                <a:ea typeface="Inter" pitchFamily="34" charset="-122"/>
                <a:cs typeface="Inter" pitchFamily="34" charset="-120"/>
              </a:rPr>
              <a:t>max_depth tried from 1 to 20. Best on validation: depth 8.</a:t>
            </a:r>
            <a:endParaRPr lang="en-US" sz="1400" dirty="0"/>
          </a:p>
        </p:txBody>
      </p:sp>
      <p:sp>
        <p:nvSpPr>
          <p:cNvPr id="7" name="Shape 5"/>
          <p:cNvSpPr/>
          <p:nvPr/>
        </p:nvSpPr>
        <p:spPr>
          <a:xfrm>
            <a:off x="6197600" y="3093839"/>
            <a:ext cx="5181600" cy="1272480"/>
          </a:xfrm>
          <a:prstGeom prst="roundRect">
            <a:avLst>
              <a:gd name="adj" fmla="val 7984"/>
            </a:avLst>
          </a:prstGeom>
          <a:solidFill>
            <a:srgbClr val="1D3341"/>
          </a:solidFill>
          <a:ln/>
        </p:spPr>
      </p:sp>
      <p:sp>
        <p:nvSpPr>
          <p:cNvPr id="8" name="Text 6"/>
          <p:cNvSpPr/>
          <p:nvPr/>
        </p:nvSpPr>
        <p:spPr>
          <a:xfrm>
            <a:off x="6426200" y="3322439"/>
            <a:ext cx="486613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F9AA0"/>
                </a:solidFill>
                <a:latin typeface="Inter" pitchFamily="34" charset="0"/>
                <a:ea typeface="Inter" pitchFamily="34" charset="-122"/>
                <a:cs typeface="Inter" pitchFamily="34" charset="-120"/>
              </a:rPr>
              <a:t>KNN</a:t>
            </a:r>
            <a:endParaRPr lang="en-US" sz="1700" dirty="0"/>
          </a:p>
        </p:txBody>
      </p:sp>
      <p:sp>
        <p:nvSpPr>
          <p:cNvPr id="9" name="Text 7"/>
          <p:cNvSpPr/>
          <p:nvPr/>
        </p:nvSpPr>
        <p:spPr>
          <a:xfrm>
            <a:off x="6426200" y="3657699"/>
            <a:ext cx="4866132"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C9D3D8"/>
                </a:solidFill>
                <a:latin typeface="Inter" pitchFamily="34" charset="0"/>
                <a:ea typeface="Inter" pitchFamily="34" charset="-122"/>
                <a:cs typeface="Inter" pitchFamily="34" charset="-120"/>
              </a:rPr>
              <a:t>K tried from 3 to 51. Best on validation: K = 51, the largest value tried.</a:t>
            </a:r>
            <a:endParaRPr lang="en-US" sz="1400" dirty="0"/>
          </a:p>
        </p:txBody>
      </p:sp>
      <p:sp>
        <p:nvSpPr>
          <p:cNvPr id="10" name="Shape 8"/>
          <p:cNvSpPr/>
          <p:nvPr/>
        </p:nvSpPr>
        <p:spPr>
          <a:xfrm>
            <a:off x="812800" y="4569520"/>
            <a:ext cx="5181600" cy="1272480"/>
          </a:xfrm>
          <a:prstGeom prst="roundRect">
            <a:avLst>
              <a:gd name="adj" fmla="val 7984"/>
            </a:avLst>
          </a:prstGeom>
          <a:solidFill>
            <a:srgbClr val="1D3341"/>
          </a:solidFill>
          <a:ln/>
        </p:spPr>
      </p:sp>
      <p:sp>
        <p:nvSpPr>
          <p:cNvPr id="11" name="Text 9"/>
          <p:cNvSpPr/>
          <p:nvPr/>
        </p:nvSpPr>
        <p:spPr>
          <a:xfrm>
            <a:off x="1041400" y="4798120"/>
            <a:ext cx="486613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F9AA0"/>
                </a:solidFill>
                <a:latin typeface="Inter" pitchFamily="34" charset="0"/>
                <a:ea typeface="Inter" pitchFamily="34" charset="-122"/>
                <a:cs typeface="Inter" pitchFamily="34" charset="-120"/>
              </a:rPr>
              <a:t>XGBoost</a:t>
            </a:r>
            <a:endParaRPr lang="en-US" sz="1700" dirty="0"/>
          </a:p>
        </p:txBody>
      </p:sp>
      <p:sp>
        <p:nvSpPr>
          <p:cNvPr id="12" name="Text 10"/>
          <p:cNvSpPr/>
          <p:nvPr/>
        </p:nvSpPr>
        <p:spPr>
          <a:xfrm>
            <a:off x="1041400" y="5133380"/>
            <a:ext cx="4866132"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C9D3D8"/>
                </a:solidFill>
                <a:latin typeface="Inter" pitchFamily="34" charset="0"/>
                <a:ea typeface="Inter" pitchFamily="34" charset="-122"/>
                <a:cs typeface="Inter" pitchFamily="34" charset="-120"/>
              </a:rPr>
              <a:t>Up to 500 rounds; stops early after 20 rounds without validation improvement.</a:t>
            </a:r>
            <a:endParaRPr lang="en-US" sz="1400" dirty="0"/>
          </a:p>
        </p:txBody>
      </p:sp>
      <p:sp>
        <p:nvSpPr>
          <p:cNvPr id="13" name="Shape 11"/>
          <p:cNvSpPr/>
          <p:nvPr/>
        </p:nvSpPr>
        <p:spPr>
          <a:xfrm>
            <a:off x="6197600" y="4569520"/>
            <a:ext cx="5181600" cy="1272480"/>
          </a:xfrm>
          <a:prstGeom prst="roundRect">
            <a:avLst>
              <a:gd name="adj" fmla="val 7984"/>
            </a:avLst>
          </a:prstGeom>
          <a:solidFill>
            <a:srgbClr val="1D3341"/>
          </a:solidFill>
          <a:ln/>
        </p:spPr>
      </p:sp>
      <p:sp>
        <p:nvSpPr>
          <p:cNvPr id="14" name="Text 12"/>
          <p:cNvSpPr/>
          <p:nvPr/>
        </p:nvSpPr>
        <p:spPr>
          <a:xfrm>
            <a:off x="6426200" y="4798120"/>
            <a:ext cx="486613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F9AA0"/>
                </a:solidFill>
                <a:latin typeface="Inter" pitchFamily="34" charset="0"/>
                <a:ea typeface="Inter" pitchFamily="34" charset="-122"/>
                <a:cs typeface="Inter" pitchFamily="34" charset="-120"/>
              </a:rPr>
              <a:t>CNN</a:t>
            </a:r>
            <a:endParaRPr lang="en-US" sz="1700" dirty="0"/>
          </a:p>
        </p:txBody>
      </p:sp>
      <p:sp>
        <p:nvSpPr>
          <p:cNvPr id="15" name="Text 13"/>
          <p:cNvSpPr/>
          <p:nvPr/>
        </p:nvSpPr>
        <p:spPr>
          <a:xfrm>
            <a:off x="6426200" y="5133380"/>
            <a:ext cx="4866132"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C9D3D8"/>
                </a:solidFill>
                <a:latin typeface="Inter" pitchFamily="34" charset="0"/>
                <a:ea typeface="Inter" pitchFamily="34" charset="-122"/>
                <a:cs typeface="Inter" pitchFamily="34" charset="-120"/>
              </a:rPr>
              <a:t>Up to 50 epochs; early stopping with patience 5 on validation loss.</a:t>
            </a:r>
            <a:endParaRPr lang="en-US" sz="14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6BD"/>
                </a:solidFill>
                <a:latin typeface="Inter" pitchFamily="34" charset="0"/>
                <a:ea typeface="Inter" pitchFamily="34" charset="-122"/>
                <a:cs typeface="Inter" pitchFamily="34" charset="-120"/>
              </a:rPr>
              <a:t>Cardiovascular Disease Prediction Using Machine Learning · 6 / 12</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2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32E"/>
                </a:solidFill>
                <a:latin typeface="Source Serif 4" pitchFamily="18" charset="0"/>
                <a:ea typeface="Source Serif 4" pitchFamily="18" charset="-122"/>
                <a:cs typeface="Source Serif 4" pitchFamily="18" charset="-120"/>
              </a:rPr>
              <a:t>Test-set results</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742430"/>
          <a:ext cx="10553700" cy="3454400"/>
        </p:xfrm>
        <a:graphic>
          <a:graphicData uri="http://schemas.openxmlformats.org/drawingml/2006/table">
            <a:tbl>
              <a:tblPr/>
              <a:tblGrid>
                <a:gridCol w="2638425"/>
                <a:gridCol w="2638425"/>
                <a:gridCol w="2638425"/>
                <a:gridCol w="2638425"/>
              </a:tblGrid>
              <a:tr h="431800">
                <a:tc>
                  <a:txBody>
                    <a:bodyPr/>
                    <a:lstStyle/>
                    <a:p>
                      <a:pPr indent="0" marL="0">
                        <a:lnSpc>
                          <a:spcPts val="2100"/>
                        </a:lnSpc>
                        <a:buNone/>
                      </a:pPr>
                      <a:r>
                        <a:rPr lang="en-US" sz="1500" b="1" dirty="0">
                          <a:solidFill>
                            <a:srgbClr val="F5F2EC"/>
                          </a:solidFill>
                          <a:latin typeface="Inter" pitchFamily="34" charset="0"/>
                          <a:ea typeface="Inter" pitchFamily="34" charset="-122"/>
                          <a:cs typeface="Inter" pitchFamily="34" charset="-120"/>
                        </a:rPr>
                        <a:t>Model</a:t>
                      </a:r>
                      <a:endParaRPr lang="en-US" sz="1500" dirty="0">
                        <a:latin typeface="Inter" charset="0"/>
                        <a:ea typeface="Inter" charset="0"/>
                        <a:cs typeface="Inter" charset="0"/>
                      </a:endParaRPr>
                    </a:p>
                  </a:txBody>
                  <a:tcPr marL="152400" marR="152400" marT="76200" marB="76200" anchor="t">
                    <a:lnL w="12700" cap="flat" cmpd="sng" algn="ctr">
                      <a:solidFill>
                        <a:srgbClr val="C4C1BC"/>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3E0DB"/>
                    </a:solidFill>
                  </a:tcPr>
                </a:tc>
                <a:tc>
                  <a:txBody>
                    <a:bodyPr/>
                    <a:lstStyle/>
                    <a:p>
                      <a:pPr algn="r" indent="0" marL="0">
                        <a:lnSpc>
                          <a:spcPts val="2100"/>
                        </a:lnSpc>
                        <a:buNone/>
                      </a:pPr>
                      <a:r>
                        <a:rPr lang="en-US" sz="1500" b="1" dirty="0">
                          <a:solidFill>
                            <a:srgbClr val="F5F2EC"/>
                          </a:solidFill>
                          <a:latin typeface="Inter" pitchFamily="34" charset="0"/>
                          <a:ea typeface="Inter" pitchFamily="34" charset="-122"/>
                          <a:cs typeface="Inter" pitchFamily="34" charset="-120"/>
                        </a:rPr>
                        <a:t>Accuracy</a:t>
                      </a:r>
                      <a:endParaRPr lang="en-US" sz="1500" dirty="0">
                        <a:latin typeface="Inter" charset="0"/>
                        <a:ea typeface="Inter" charset="0"/>
                        <a:cs typeface="Inter" charset="0"/>
                      </a:endParaRPr>
                    </a:p>
                  </a:txBody>
                  <a:tcPr marL="152400" marR="152400" marT="76200" marB="76200" anchor="t">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3E0DB"/>
                    </a:solidFill>
                  </a:tcPr>
                </a:tc>
                <a:tc>
                  <a:txBody>
                    <a:bodyPr/>
                    <a:lstStyle/>
                    <a:p>
                      <a:pPr algn="r" indent="0" marL="0">
                        <a:lnSpc>
                          <a:spcPts val="2100"/>
                        </a:lnSpc>
                        <a:buNone/>
                      </a:pPr>
                      <a:r>
                        <a:rPr lang="en-US" sz="1500" b="1" dirty="0">
                          <a:solidFill>
                            <a:srgbClr val="F5F2EC"/>
                          </a:solidFill>
                          <a:latin typeface="Inter" pitchFamily="34" charset="0"/>
                          <a:ea typeface="Inter" pitchFamily="34" charset="-122"/>
                          <a:cs typeface="Inter" pitchFamily="34" charset="-120"/>
                        </a:rPr>
                        <a:t>Recall</a:t>
                      </a:r>
                      <a:endParaRPr lang="en-US" sz="1500" dirty="0">
                        <a:latin typeface="Inter" charset="0"/>
                        <a:ea typeface="Inter" charset="0"/>
                        <a:cs typeface="Inter" charset="0"/>
                      </a:endParaRPr>
                    </a:p>
                  </a:txBody>
                  <a:tcPr marL="152400" marR="152400" marT="76200" marB="76200" anchor="t">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3E0DB"/>
                    </a:solidFill>
                  </a:tcPr>
                </a:tc>
                <a:tc>
                  <a:txBody>
                    <a:bodyPr/>
                    <a:lstStyle/>
                    <a:p>
                      <a:pPr algn="r" indent="0" marL="0">
                        <a:lnSpc>
                          <a:spcPts val="2100"/>
                        </a:lnSpc>
                        <a:buNone/>
                      </a:pPr>
                      <a:r>
                        <a:rPr lang="en-US" sz="1500" b="1" dirty="0">
                          <a:solidFill>
                            <a:srgbClr val="F5F2EC"/>
                          </a:solidFill>
                          <a:latin typeface="Inter" pitchFamily="34" charset="0"/>
                          <a:ea typeface="Inter" pitchFamily="34" charset="-122"/>
                          <a:cs typeface="Inter" pitchFamily="34" charset="-120"/>
                        </a:rPr>
                        <a:t>ROC-AUC</a:t>
                      </a:r>
                      <a:endParaRPr lang="en-US" sz="1500" dirty="0">
                        <a:latin typeface="Inter" charset="0"/>
                        <a:ea typeface="Inter" charset="0"/>
                        <a:cs typeface="Inter" charset="0"/>
                      </a:endParaRPr>
                    </a:p>
                  </a:txBody>
                  <a:tcPr marL="152400" marR="152400" marT="76200" marB="76200" anchor="t">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3E0DB"/>
                    </a:solidFill>
                  </a:tcPr>
                </a:tc>
              </a:tr>
              <a:tr h="431800">
                <a:tc>
                  <a:txBody>
                    <a:bodyPr/>
                    <a:lstStyle/>
                    <a:p>
                      <a:pPr indent="0" marL="0">
                        <a:lnSpc>
                          <a:spcPts val="2100"/>
                        </a:lnSpc>
                        <a:buNone/>
                      </a:pPr>
                      <a:r>
                        <a:rPr lang="en-US" sz="1500" dirty="0">
                          <a:solidFill>
                            <a:srgbClr val="14232E"/>
                          </a:solidFill>
                          <a:latin typeface="Inter" pitchFamily="34" charset="0"/>
                          <a:ea typeface="Inter" pitchFamily="34" charset="-122"/>
                          <a:cs typeface="Inter" pitchFamily="34" charset="-120"/>
                        </a:rPr>
                        <a:t>XGBoost</a:t>
                      </a:r>
                      <a:endParaRPr lang="en-US" sz="1500" dirty="0">
                        <a:latin typeface="Inter" charset="0"/>
                        <a:ea typeface="Inter" charset="0"/>
                        <a:cs typeface="Inter" charset="0"/>
                      </a:endParaRPr>
                    </a:p>
                  </a:txBody>
                  <a:tcPr marL="152400" marR="152400" marT="76200" marB="76200"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algn="r" indent="0" marL="0">
                        <a:lnSpc>
                          <a:spcPts val="2100"/>
                        </a:lnSpc>
                        <a:buNone/>
                      </a:pPr>
                      <a:r>
                        <a:rPr lang="en-US" sz="1500" dirty="0">
                          <a:solidFill>
                            <a:srgbClr val="17716A"/>
                          </a:solidFill>
                          <a:latin typeface="Inter" pitchFamily="34" charset="0"/>
                          <a:ea typeface="Inter" pitchFamily="34" charset="-122"/>
                          <a:cs typeface="Inter" pitchFamily="34" charset="-120"/>
                        </a:rPr>
                        <a:t>73.2%</a:t>
                      </a:r>
                      <a:endParaRPr lang="en-US" sz="1500" dirty="0">
                        <a:latin typeface="Inter" charset="0"/>
                        <a:ea typeface="Inter" charset="0"/>
                        <a:cs typeface="Inter" charset="0"/>
                      </a:endParaRPr>
                    </a:p>
                  </a:txBody>
                  <a:tcPr marL="152400" marR="152400" marT="76200" marB="76200"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algn="r" indent="0" marL="0">
                        <a:lnSpc>
                          <a:spcPts val="2100"/>
                        </a:lnSpc>
                        <a:buNone/>
                      </a:pPr>
                      <a:r>
                        <a:rPr lang="en-US" sz="1500" dirty="0">
                          <a:solidFill>
                            <a:srgbClr val="17716A"/>
                          </a:solidFill>
                          <a:latin typeface="Inter" pitchFamily="34" charset="0"/>
                          <a:ea typeface="Inter" pitchFamily="34" charset="-122"/>
                          <a:cs typeface="Inter" pitchFamily="34" charset="-120"/>
                        </a:rPr>
                        <a:t>67.8%</a:t>
                      </a:r>
                      <a:endParaRPr lang="en-US" sz="1500" dirty="0">
                        <a:latin typeface="Inter" charset="0"/>
                        <a:ea typeface="Inter" charset="0"/>
                        <a:cs typeface="Inter" charset="0"/>
                      </a:endParaRPr>
                    </a:p>
                  </a:txBody>
                  <a:tcPr marL="152400" marR="152400" marT="76200" marB="76200"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algn="r" indent="0" marL="0">
                        <a:lnSpc>
                          <a:spcPts val="2100"/>
                        </a:lnSpc>
                        <a:buNone/>
                      </a:pPr>
                      <a:r>
                        <a:rPr lang="en-US" sz="1500" dirty="0">
                          <a:solidFill>
                            <a:srgbClr val="17716A"/>
                          </a:solidFill>
                          <a:latin typeface="Inter" pitchFamily="34" charset="0"/>
                          <a:ea typeface="Inter" pitchFamily="34" charset="-122"/>
                          <a:cs typeface="Inter" pitchFamily="34" charset="-120"/>
                        </a:rPr>
                        <a:t>0.8033</a:t>
                      </a:r>
                      <a:endParaRPr lang="en-US" sz="1500" dirty="0">
                        <a:latin typeface="Inter" charset="0"/>
                        <a:ea typeface="Inter" charset="0"/>
                        <a:cs typeface="Inter" charset="0"/>
                      </a:endParaRPr>
                    </a:p>
                  </a:txBody>
                  <a:tcPr marL="152400" marR="152400" marT="76200" marB="76200"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r>
              <a:tr h="431800">
                <a:tc>
                  <a:txBody>
                    <a:bodyPr/>
                    <a:lstStyle/>
                    <a:p>
                      <a:pPr indent="0" marL="0">
                        <a:lnSpc>
                          <a:spcPts val="2100"/>
                        </a:lnSpc>
                        <a:buNone/>
                      </a:pPr>
                      <a:r>
                        <a:rPr lang="en-US" sz="1500" dirty="0">
                          <a:solidFill>
                            <a:srgbClr val="14232E"/>
                          </a:solidFill>
                          <a:latin typeface="Inter" pitchFamily="34" charset="0"/>
                          <a:ea typeface="Inter" pitchFamily="34" charset="-122"/>
                          <a:cs typeface="Inter" pitchFamily="34" charset="-120"/>
                        </a:rPr>
                        <a:t>1D CNN</a:t>
                      </a:r>
                      <a:endParaRPr lang="en-US" sz="1500" dirty="0">
                        <a:latin typeface="Inter" charset="0"/>
                        <a:ea typeface="Inter" charset="0"/>
                        <a:cs typeface="Inter" charset="0"/>
                      </a:endParaRPr>
                    </a:p>
                  </a:txBody>
                  <a:tcPr marL="152400" marR="152400" marT="76200" marB="76200"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algn="r" indent="0" marL="0">
                        <a:lnSpc>
                          <a:spcPts val="2100"/>
                        </a:lnSpc>
                        <a:buNone/>
                      </a:pPr>
                      <a:r>
                        <a:rPr lang="en-US" sz="1500" dirty="0">
                          <a:solidFill>
                            <a:srgbClr val="17716A"/>
                          </a:solidFill>
                          <a:latin typeface="Inter" pitchFamily="34" charset="0"/>
                          <a:ea typeface="Inter" pitchFamily="34" charset="-122"/>
                          <a:cs typeface="Inter" pitchFamily="34" charset="-120"/>
                        </a:rPr>
                        <a:t>73.1%</a:t>
                      </a:r>
                      <a:endParaRPr lang="en-US" sz="1500" dirty="0">
                        <a:latin typeface="Inter" charset="0"/>
                        <a:ea typeface="Inter" charset="0"/>
                        <a:cs typeface="Inter" charset="0"/>
                      </a:endParaRPr>
                    </a:p>
                  </a:txBody>
                  <a:tcPr marL="152400" marR="152400" marT="76200" marB="76200"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algn="r" indent="0" marL="0">
                        <a:lnSpc>
                          <a:spcPts val="2100"/>
                        </a:lnSpc>
                        <a:buNone/>
                      </a:pPr>
                      <a:r>
                        <a:rPr lang="en-US" sz="1500" dirty="0">
                          <a:solidFill>
                            <a:srgbClr val="17716A"/>
                          </a:solidFill>
                          <a:latin typeface="Inter" pitchFamily="34" charset="0"/>
                          <a:ea typeface="Inter" pitchFamily="34" charset="-122"/>
                          <a:cs typeface="Inter" pitchFamily="34" charset="-120"/>
                        </a:rPr>
                        <a:t>68.4%</a:t>
                      </a:r>
                      <a:endParaRPr lang="en-US" sz="1500" dirty="0">
                        <a:latin typeface="Inter" charset="0"/>
                        <a:ea typeface="Inter" charset="0"/>
                        <a:cs typeface="Inter" charset="0"/>
                      </a:endParaRPr>
                    </a:p>
                  </a:txBody>
                  <a:tcPr marL="152400" marR="152400" marT="76200" marB="76200"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algn="r" indent="0" marL="0">
                        <a:lnSpc>
                          <a:spcPts val="2100"/>
                        </a:lnSpc>
                        <a:buNone/>
                      </a:pPr>
                      <a:r>
                        <a:rPr lang="en-US" sz="1500" dirty="0">
                          <a:solidFill>
                            <a:srgbClr val="17716A"/>
                          </a:solidFill>
                          <a:latin typeface="Inter" pitchFamily="34" charset="0"/>
                          <a:ea typeface="Inter" pitchFamily="34" charset="-122"/>
                          <a:cs typeface="Inter" pitchFamily="34" charset="-120"/>
                        </a:rPr>
                        <a:t>0.8006</a:t>
                      </a:r>
                      <a:endParaRPr lang="en-US" sz="1500" dirty="0">
                        <a:latin typeface="Inter" charset="0"/>
                        <a:ea typeface="Inter" charset="0"/>
                        <a:cs typeface="Inter" charset="0"/>
                      </a:endParaRPr>
                    </a:p>
                  </a:txBody>
                  <a:tcPr marL="152400" marR="152400" marT="76200" marB="76200"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r>
              <a:tr h="431800">
                <a:tc>
                  <a:txBody>
                    <a:bodyPr/>
                    <a:lstStyle/>
                    <a:p>
                      <a:pPr indent="0" marL="0">
                        <a:lnSpc>
                          <a:spcPts val="2100"/>
                        </a:lnSpc>
                        <a:buNone/>
                      </a:pPr>
                      <a:r>
                        <a:rPr lang="en-US" sz="1500" dirty="0">
                          <a:solidFill>
                            <a:srgbClr val="14232E"/>
                          </a:solidFill>
                          <a:latin typeface="Inter" pitchFamily="34" charset="0"/>
                          <a:ea typeface="Inter" pitchFamily="34" charset="-122"/>
                          <a:cs typeface="Inter" pitchFamily="34" charset="-120"/>
                        </a:rPr>
                        <a:t>Logistic Regression</a:t>
                      </a:r>
                      <a:endParaRPr lang="en-US" sz="1500" dirty="0">
                        <a:latin typeface="Inter" charset="0"/>
                        <a:ea typeface="Inter" charset="0"/>
                        <a:cs typeface="Inter" charset="0"/>
                      </a:endParaRPr>
                    </a:p>
                  </a:txBody>
                  <a:tcPr marL="152400" marR="152400" marT="76200" marB="76200"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algn="r" indent="0" marL="0">
                        <a:lnSpc>
                          <a:spcPts val="2100"/>
                        </a:lnSpc>
                        <a:buNone/>
                      </a:pPr>
                      <a:r>
                        <a:rPr lang="en-US" sz="1500" dirty="0">
                          <a:solidFill>
                            <a:srgbClr val="14232E"/>
                          </a:solidFill>
                          <a:latin typeface="Inter" pitchFamily="34" charset="0"/>
                          <a:ea typeface="Inter" pitchFamily="34" charset="-122"/>
                          <a:cs typeface="Inter" pitchFamily="34" charset="-120"/>
                        </a:rPr>
                        <a:t>72.5%</a:t>
                      </a:r>
                      <a:endParaRPr lang="en-US" sz="1500" dirty="0">
                        <a:latin typeface="Inter" charset="0"/>
                        <a:ea typeface="Inter" charset="0"/>
                        <a:cs typeface="Inter" charset="0"/>
                      </a:endParaRPr>
                    </a:p>
                  </a:txBody>
                  <a:tcPr marL="152400" marR="152400" marT="76200" marB="76200"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algn="r" indent="0" marL="0">
                        <a:lnSpc>
                          <a:spcPts val="2100"/>
                        </a:lnSpc>
                        <a:buNone/>
                      </a:pPr>
                      <a:r>
                        <a:rPr lang="en-US" sz="1500" dirty="0">
                          <a:solidFill>
                            <a:srgbClr val="14232E"/>
                          </a:solidFill>
                          <a:latin typeface="Inter" pitchFamily="34" charset="0"/>
                          <a:ea typeface="Inter" pitchFamily="34" charset="-122"/>
                          <a:cs typeface="Inter" pitchFamily="34" charset="-120"/>
                        </a:rPr>
                        <a:t>66.1%</a:t>
                      </a:r>
                      <a:endParaRPr lang="en-US" sz="1500" dirty="0">
                        <a:latin typeface="Inter" charset="0"/>
                        <a:ea typeface="Inter" charset="0"/>
                        <a:cs typeface="Inter" charset="0"/>
                      </a:endParaRPr>
                    </a:p>
                  </a:txBody>
                  <a:tcPr marL="152400" marR="152400" marT="76200" marB="76200"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algn="r" indent="0" marL="0">
                        <a:lnSpc>
                          <a:spcPts val="2100"/>
                        </a:lnSpc>
                        <a:buNone/>
                      </a:pPr>
                      <a:r>
                        <a:rPr lang="en-US" sz="1500" dirty="0">
                          <a:solidFill>
                            <a:srgbClr val="14232E"/>
                          </a:solidFill>
                          <a:latin typeface="Inter" pitchFamily="34" charset="0"/>
                          <a:ea typeface="Inter" pitchFamily="34" charset="-122"/>
                          <a:cs typeface="Inter" pitchFamily="34" charset="-120"/>
                        </a:rPr>
                        <a:t>0.7939</a:t>
                      </a:r>
                      <a:endParaRPr lang="en-US" sz="1500" dirty="0">
                        <a:latin typeface="Inter" charset="0"/>
                        <a:ea typeface="Inter" charset="0"/>
                        <a:cs typeface="Inter" charset="0"/>
                      </a:endParaRPr>
                    </a:p>
                  </a:txBody>
                  <a:tcPr marL="152400" marR="152400" marT="76200" marB="76200"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r>
              <a:tr h="431800">
                <a:tc>
                  <a:txBody>
                    <a:bodyPr/>
                    <a:lstStyle/>
                    <a:p>
                      <a:pPr indent="0" marL="0">
                        <a:lnSpc>
                          <a:spcPts val="2100"/>
                        </a:lnSpc>
                        <a:buNone/>
                      </a:pPr>
                      <a:r>
                        <a:rPr lang="en-US" sz="1500" dirty="0">
                          <a:solidFill>
                            <a:srgbClr val="14232E"/>
                          </a:solidFill>
                          <a:latin typeface="Inter" pitchFamily="34" charset="0"/>
                          <a:ea typeface="Inter" pitchFamily="34" charset="-122"/>
                          <a:cs typeface="Inter" pitchFamily="34" charset="-120"/>
                        </a:rPr>
                        <a:t>Linear Regression</a:t>
                      </a:r>
                      <a:endParaRPr lang="en-US" sz="1500" dirty="0">
                        <a:latin typeface="Inter" charset="0"/>
                        <a:ea typeface="Inter" charset="0"/>
                        <a:cs typeface="Inter" charset="0"/>
                      </a:endParaRPr>
                    </a:p>
                  </a:txBody>
                  <a:tcPr marL="152400" marR="152400" marT="76200" marB="76200"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algn="r" indent="0" marL="0">
                        <a:lnSpc>
                          <a:spcPts val="2100"/>
                        </a:lnSpc>
                        <a:buNone/>
                      </a:pPr>
                      <a:r>
                        <a:rPr lang="en-US" sz="1500" dirty="0">
                          <a:solidFill>
                            <a:srgbClr val="14232E"/>
                          </a:solidFill>
                          <a:latin typeface="Inter" pitchFamily="34" charset="0"/>
                          <a:ea typeface="Inter" pitchFamily="34" charset="-122"/>
                          <a:cs typeface="Inter" pitchFamily="34" charset="-120"/>
                        </a:rPr>
                        <a:t>72.2%</a:t>
                      </a:r>
                      <a:endParaRPr lang="en-US" sz="1500" dirty="0">
                        <a:latin typeface="Inter" charset="0"/>
                        <a:ea typeface="Inter" charset="0"/>
                        <a:cs typeface="Inter" charset="0"/>
                      </a:endParaRPr>
                    </a:p>
                  </a:txBody>
                  <a:tcPr marL="152400" marR="152400" marT="76200" marB="76200"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algn="r" indent="0" marL="0">
                        <a:lnSpc>
                          <a:spcPts val="2100"/>
                        </a:lnSpc>
                        <a:buNone/>
                      </a:pPr>
                      <a:r>
                        <a:rPr lang="en-US" sz="1500" dirty="0">
                          <a:solidFill>
                            <a:srgbClr val="14232E"/>
                          </a:solidFill>
                          <a:latin typeface="Inter" pitchFamily="34" charset="0"/>
                          <a:ea typeface="Inter" pitchFamily="34" charset="-122"/>
                          <a:cs typeface="Inter" pitchFamily="34" charset="-120"/>
                        </a:rPr>
                        <a:t>64.9%</a:t>
                      </a:r>
                      <a:endParaRPr lang="en-US" sz="1500" dirty="0">
                        <a:latin typeface="Inter" charset="0"/>
                        <a:ea typeface="Inter" charset="0"/>
                        <a:cs typeface="Inter" charset="0"/>
                      </a:endParaRPr>
                    </a:p>
                  </a:txBody>
                  <a:tcPr marL="152400" marR="152400" marT="76200" marB="76200"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algn="r" indent="0" marL="0">
                        <a:lnSpc>
                          <a:spcPts val="2100"/>
                        </a:lnSpc>
                        <a:buNone/>
                      </a:pPr>
                      <a:r>
                        <a:rPr lang="en-US" sz="1500" dirty="0">
                          <a:solidFill>
                            <a:srgbClr val="14232E"/>
                          </a:solidFill>
                          <a:latin typeface="Inter" pitchFamily="34" charset="0"/>
                          <a:ea typeface="Inter" pitchFamily="34" charset="-122"/>
                          <a:cs typeface="Inter" pitchFamily="34" charset="-120"/>
                        </a:rPr>
                        <a:t>0.7934</a:t>
                      </a:r>
                      <a:endParaRPr lang="en-US" sz="1500" dirty="0">
                        <a:latin typeface="Inter" charset="0"/>
                        <a:ea typeface="Inter" charset="0"/>
                        <a:cs typeface="Inter" charset="0"/>
                      </a:endParaRPr>
                    </a:p>
                  </a:txBody>
                  <a:tcPr marL="152400" marR="152400" marT="76200" marB="76200"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r>
              <a:tr h="431800">
                <a:tc>
                  <a:txBody>
                    <a:bodyPr/>
                    <a:lstStyle/>
                    <a:p>
                      <a:pPr indent="0" marL="0">
                        <a:lnSpc>
                          <a:spcPts val="2100"/>
                        </a:lnSpc>
                        <a:buNone/>
                      </a:pPr>
                      <a:r>
                        <a:rPr lang="en-US" sz="1500" dirty="0">
                          <a:solidFill>
                            <a:srgbClr val="14232E"/>
                          </a:solidFill>
                          <a:latin typeface="Inter" pitchFamily="34" charset="0"/>
                          <a:ea typeface="Inter" pitchFamily="34" charset="-122"/>
                          <a:cs typeface="Inter" pitchFamily="34" charset="-120"/>
                        </a:rPr>
                        <a:t>KNN (K = 51)</a:t>
                      </a:r>
                      <a:endParaRPr lang="en-US" sz="1500" dirty="0">
                        <a:latin typeface="Inter" charset="0"/>
                        <a:ea typeface="Inter" charset="0"/>
                        <a:cs typeface="Inter" charset="0"/>
                      </a:endParaRPr>
                    </a:p>
                  </a:txBody>
                  <a:tcPr marL="152400" marR="152400" marT="76200" marB="76200"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algn="r" indent="0" marL="0">
                        <a:lnSpc>
                          <a:spcPts val="2100"/>
                        </a:lnSpc>
                        <a:buNone/>
                      </a:pPr>
                      <a:r>
                        <a:rPr lang="en-US" sz="1500" dirty="0">
                          <a:solidFill>
                            <a:srgbClr val="14232E"/>
                          </a:solidFill>
                          <a:latin typeface="Inter" pitchFamily="34" charset="0"/>
                          <a:ea typeface="Inter" pitchFamily="34" charset="-122"/>
                          <a:cs typeface="Inter" pitchFamily="34" charset="-120"/>
                        </a:rPr>
                        <a:t>72.3%</a:t>
                      </a:r>
                      <a:endParaRPr lang="en-US" sz="1500" dirty="0">
                        <a:latin typeface="Inter" charset="0"/>
                        <a:ea typeface="Inter" charset="0"/>
                        <a:cs typeface="Inter" charset="0"/>
                      </a:endParaRPr>
                    </a:p>
                  </a:txBody>
                  <a:tcPr marL="152400" marR="152400" marT="76200" marB="76200"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algn="r" indent="0" marL="0">
                        <a:lnSpc>
                          <a:spcPts val="2100"/>
                        </a:lnSpc>
                        <a:buNone/>
                      </a:pPr>
                      <a:r>
                        <a:rPr lang="en-US" sz="1500" dirty="0">
                          <a:solidFill>
                            <a:srgbClr val="14232E"/>
                          </a:solidFill>
                          <a:latin typeface="Inter" pitchFamily="34" charset="0"/>
                          <a:ea typeface="Inter" pitchFamily="34" charset="-122"/>
                          <a:cs typeface="Inter" pitchFamily="34" charset="-120"/>
                        </a:rPr>
                        <a:t>66.7%</a:t>
                      </a:r>
                      <a:endParaRPr lang="en-US" sz="1500" dirty="0">
                        <a:latin typeface="Inter" charset="0"/>
                        <a:ea typeface="Inter" charset="0"/>
                        <a:cs typeface="Inter" charset="0"/>
                      </a:endParaRPr>
                    </a:p>
                  </a:txBody>
                  <a:tcPr marL="152400" marR="152400" marT="76200" marB="76200"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algn="r" indent="0" marL="0">
                        <a:lnSpc>
                          <a:spcPts val="2100"/>
                        </a:lnSpc>
                        <a:buNone/>
                      </a:pPr>
                      <a:r>
                        <a:rPr lang="en-US" sz="1500" dirty="0">
                          <a:solidFill>
                            <a:srgbClr val="14232E"/>
                          </a:solidFill>
                          <a:latin typeface="Inter" pitchFamily="34" charset="0"/>
                          <a:ea typeface="Inter" pitchFamily="34" charset="-122"/>
                          <a:cs typeface="Inter" pitchFamily="34" charset="-120"/>
                        </a:rPr>
                        <a:t>0.7920</a:t>
                      </a:r>
                      <a:endParaRPr lang="en-US" sz="1500" dirty="0">
                        <a:latin typeface="Inter" charset="0"/>
                        <a:ea typeface="Inter" charset="0"/>
                        <a:cs typeface="Inter" charset="0"/>
                      </a:endParaRPr>
                    </a:p>
                  </a:txBody>
                  <a:tcPr marL="152400" marR="152400" marT="76200" marB="76200"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r>
              <a:tr h="431800">
                <a:tc>
                  <a:txBody>
                    <a:bodyPr/>
                    <a:lstStyle/>
                    <a:p>
                      <a:pPr indent="0" marL="0">
                        <a:lnSpc>
                          <a:spcPts val="2100"/>
                        </a:lnSpc>
                        <a:buNone/>
                      </a:pPr>
                      <a:r>
                        <a:rPr lang="en-US" sz="1500" dirty="0">
                          <a:solidFill>
                            <a:srgbClr val="14232E"/>
                          </a:solidFill>
                          <a:latin typeface="Inter" pitchFamily="34" charset="0"/>
                          <a:ea typeface="Inter" pitchFamily="34" charset="-122"/>
                          <a:cs typeface="Inter" pitchFamily="34" charset="-120"/>
                        </a:rPr>
                        <a:t>SVM</a:t>
                      </a:r>
                      <a:endParaRPr lang="en-US" sz="1500" dirty="0">
                        <a:latin typeface="Inter" charset="0"/>
                        <a:ea typeface="Inter" charset="0"/>
                        <a:cs typeface="Inter" charset="0"/>
                      </a:endParaRPr>
                    </a:p>
                  </a:txBody>
                  <a:tcPr marL="152400" marR="152400" marT="76200" marB="76200"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algn="r" indent="0" marL="0">
                        <a:lnSpc>
                          <a:spcPts val="2100"/>
                        </a:lnSpc>
                        <a:buNone/>
                      </a:pPr>
                      <a:r>
                        <a:rPr lang="en-US" sz="1500" dirty="0">
                          <a:solidFill>
                            <a:srgbClr val="14232E"/>
                          </a:solidFill>
                          <a:latin typeface="Inter" pitchFamily="34" charset="0"/>
                          <a:ea typeface="Inter" pitchFamily="34" charset="-122"/>
                          <a:cs typeface="Inter" pitchFamily="34" charset="-120"/>
                        </a:rPr>
                        <a:t>73.0%</a:t>
                      </a:r>
                      <a:endParaRPr lang="en-US" sz="1500" dirty="0">
                        <a:latin typeface="Inter" charset="0"/>
                        <a:ea typeface="Inter" charset="0"/>
                        <a:cs typeface="Inter" charset="0"/>
                      </a:endParaRPr>
                    </a:p>
                  </a:txBody>
                  <a:tcPr marL="152400" marR="152400" marT="76200" marB="76200"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algn="r" indent="0" marL="0">
                        <a:lnSpc>
                          <a:spcPts val="2100"/>
                        </a:lnSpc>
                        <a:buNone/>
                      </a:pPr>
                      <a:r>
                        <a:rPr lang="en-US" sz="1500" dirty="0">
                          <a:solidFill>
                            <a:srgbClr val="14232E"/>
                          </a:solidFill>
                          <a:latin typeface="Inter" pitchFamily="34" charset="0"/>
                          <a:ea typeface="Inter" pitchFamily="34" charset="-122"/>
                          <a:cs typeface="Inter" pitchFamily="34" charset="-120"/>
                        </a:rPr>
                        <a:t>66.4%</a:t>
                      </a:r>
                      <a:endParaRPr lang="en-US" sz="1500" dirty="0">
                        <a:latin typeface="Inter" charset="0"/>
                        <a:ea typeface="Inter" charset="0"/>
                        <a:cs typeface="Inter" charset="0"/>
                      </a:endParaRPr>
                    </a:p>
                  </a:txBody>
                  <a:tcPr marL="152400" marR="152400" marT="76200" marB="76200"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algn="r" indent="0" marL="0">
                        <a:lnSpc>
                          <a:spcPts val="2100"/>
                        </a:lnSpc>
                        <a:buNone/>
                      </a:pPr>
                      <a:r>
                        <a:rPr lang="en-US" sz="1500" dirty="0">
                          <a:solidFill>
                            <a:srgbClr val="14232E"/>
                          </a:solidFill>
                          <a:latin typeface="Inter" pitchFamily="34" charset="0"/>
                          <a:ea typeface="Inter" pitchFamily="34" charset="-122"/>
                          <a:cs typeface="Inter" pitchFamily="34" charset="-120"/>
                        </a:rPr>
                        <a:t>0.7917</a:t>
                      </a:r>
                      <a:endParaRPr lang="en-US" sz="1500" dirty="0">
                        <a:latin typeface="Inter" charset="0"/>
                        <a:ea typeface="Inter" charset="0"/>
                        <a:cs typeface="Inter" charset="0"/>
                      </a:endParaRPr>
                    </a:p>
                  </a:txBody>
                  <a:tcPr marL="152400" marR="152400" marT="76200" marB="76200"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r>
              <a:tr h="431800">
                <a:tc>
                  <a:txBody>
                    <a:bodyPr/>
                    <a:lstStyle/>
                    <a:p>
                      <a:pPr indent="0" marL="0">
                        <a:lnSpc>
                          <a:spcPts val="2100"/>
                        </a:lnSpc>
                        <a:buNone/>
                      </a:pPr>
                      <a:r>
                        <a:rPr lang="en-US" sz="1500" dirty="0">
                          <a:solidFill>
                            <a:srgbClr val="14232E"/>
                          </a:solidFill>
                          <a:latin typeface="Inter" pitchFamily="34" charset="0"/>
                          <a:ea typeface="Inter" pitchFamily="34" charset="-122"/>
                          <a:cs typeface="Inter" pitchFamily="34" charset="-120"/>
                        </a:rPr>
                        <a:t>Decision Tree (depth 8)</a:t>
                      </a:r>
                      <a:endParaRPr lang="en-US" sz="1500" dirty="0">
                        <a:latin typeface="Inter" charset="0"/>
                        <a:ea typeface="Inter" charset="0"/>
                        <a:cs typeface="Inter" charset="0"/>
                      </a:endParaRPr>
                    </a:p>
                  </a:txBody>
                  <a:tcPr marL="152400" marR="152400" marT="76200" marB="76200"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algn="r" indent="0" marL="0">
                        <a:lnSpc>
                          <a:spcPts val="2100"/>
                        </a:lnSpc>
                        <a:buNone/>
                      </a:pPr>
                      <a:r>
                        <a:rPr lang="en-US" sz="1500" dirty="0">
                          <a:solidFill>
                            <a:srgbClr val="14232E"/>
                          </a:solidFill>
                          <a:latin typeface="Inter" pitchFamily="34" charset="0"/>
                          <a:ea typeface="Inter" pitchFamily="34" charset="-122"/>
                          <a:cs typeface="Inter" pitchFamily="34" charset="-120"/>
                        </a:rPr>
                        <a:t>73.0%</a:t>
                      </a:r>
                      <a:endParaRPr lang="en-US" sz="1500" dirty="0">
                        <a:latin typeface="Inter" charset="0"/>
                        <a:ea typeface="Inter" charset="0"/>
                        <a:cs typeface="Inter" charset="0"/>
                      </a:endParaRPr>
                    </a:p>
                  </a:txBody>
                  <a:tcPr marL="152400" marR="152400" marT="76200" marB="76200"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algn="r" indent="0" marL="0">
                        <a:lnSpc>
                          <a:spcPts val="2100"/>
                        </a:lnSpc>
                        <a:buNone/>
                      </a:pPr>
                      <a:r>
                        <a:rPr lang="en-US" sz="1500" dirty="0">
                          <a:solidFill>
                            <a:srgbClr val="14232E"/>
                          </a:solidFill>
                          <a:latin typeface="Inter" pitchFamily="34" charset="0"/>
                          <a:ea typeface="Inter" pitchFamily="34" charset="-122"/>
                          <a:cs typeface="Inter" pitchFamily="34" charset="-120"/>
                        </a:rPr>
                        <a:t>67.4%</a:t>
                      </a:r>
                      <a:endParaRPr lang="en-US" sz="1500" dirty="0">
                        <a:latin typeface="Inter" charset="0"/>
                        <a:ea typeface="Inter" charset="0"/>
                        <a:cs typeface="Inter" charset="0"/>
                      </a:endParaRPr>
                    </a:p>
                  </a:txBody>
                  <a:tcPr marL="152400" marR="152400" marT="76200" marB="76200"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algn="r" indent="0" marL="0">
                        <a:lnSpc>
                          <a:spcPts val="2100"/>
                        </a:lnSpc>
                        <a:buNone/>
                      </a:pPr>
                      <a:r>
                        <a:rPr lang="en-US" sz="1500" dirty="0">
                          <a:solidFill>
                            <a:srgbClr val="14232E"/>
                          </a:solidFill>
                          <a:latin typeface="Inter" pitchFamily="34" charset="0"/>
                          <a:ea typeface="Inter" pitchFamily="34" charset="-122"/>
                          <a:cs typeface="Inter" pitchFamily="34" charset="-120"/>
                        </a:rPr>
                        <a:t>0.7896</a:t>
                      </a:r>
                      <a:endParaRPr lang="en-US" sz="1500" dirty="0">
                        <a:latin typeface="Inter" charset="0"/>
                        <a:ea typeface="Inter" charset="0"/>
                        <a:cs typeface="Inter" charset="0"/>
                      </a:endParaRPr>
                    </a:p>
                  </a:txBody>
                  <a:tcPr marL="152400" marR="152400" marT="76200" marB="76200"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r>
            </a:tbl>
          </a:graphicData>
        </a:graphic>
      </p:graphicFrame>
      <p:sp>
        <p:nvSpPr>
          <p:cNvPr id="4" name="Text 1"/>
          <p:cNvSpPr/>
          <p:nvPr/>
        </p:nvSpPr>
        <p:spPr>
          <a:xfrm>
            <a:off x="812800" y="561087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D6A73"/>
                </a:solidFill>
                <a:latin typeface="Inter" pitchFamily="34" charset="0"/>
                <a:ea typeface="Inter" pitchFamily="34" charset="-122"/>
                <a:cs typeface="Inter" pitchFamily="34" charset="-120"/>
              </a:rPr>
              <a:t>Evaluated on the 10,289-patient test set, sorted by ROC-AUC.</a:t>
            </a:r>
            <a:endParaRPr lang="en-US" sz="1300" dirty="0"/>
          </a:p>
        </p:txBody>
      </p:sp>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A73"/>
                </a:solidFill>
                <a:latin typeface="Inter" pitchFamily="34" charset="0"/>
                <a:ea typeface="Inter" pitchFamily="34" charset="-122"/>
                <a:cs typeface="Inter" pitchFamily="34" charset="-120"/>
              </a:rPr>
              <a:t>Cardiovascular Disease Prediction Using Machine Learning · 7 / 12</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2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32E"/>
                </a:solidFill>
                <a:latin typeface="Source Serif 4" pitchFamily="18" charset="0"/>
                <a:ea typeface="Source Serif 4" pitchFamily="18" charset="-122"/>
                <a:cs typeface="Source Serif 4" pitchFamily="18" charset="-120"/>
              </a:rPr>
              <a:t>Accuracy by model</a:t>
            </a:r>
            <a:endParaRPr lang="en-US" sz="3600" dirty="0"/>
          </a:p>
        </p:txBody>
      </p:sp>
      <p:pic>
        <p:nvPicPr>
          <p:cNvPr id="3" name="Image 0" descr="Horizontal bar chart of test accuracy: XGBoost 73.2 percent, 1D CNN 73.1 percent, SVM 73.0 percent, Decision Tree 73.0 percent, Logistic Regression 72.5 percent, KNN 72.3 percent, Linear Regression 72.2 percent">    </p:cNvPr>
          <p:cNvPicPr>
            <a:picLocks noChangeAspect="1"/>
          </p:cNvPicPr>
          <p:nvPr/>
        </p:nvPicPr>
        <p:blipFill>
          <a:blip r:embed="rId1"/>
          <a:srcRect l="-15" r="-15" t="0" b="0"/>
          <a:stretch/>
        </p:blipFill>
        <p:spPr>
          <a:xfrm>
            <a:off x="812800" y="1968500"/>
            <a:ext cx="10566400" cy="3873500"/>
          </a:xfrm>
          <a:prstGeom prst="rect">
            <a:avLst/>
          </a:prstGeom>
        </p:spPr>
      </p:pic>
      <p:sp>
        <p:nvSpPr>
          <p:cNvPr id="4" name="Text 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A73"/>
                </a:solidFill>
                <a:latin typeface="Inter" pitchFamily="34" charset="0"/>
                <a:ea typeface="Inter" pitchFamily="34" charset="-122"/>
                <a:cs typeface="Inter" pitchFamily="34" charset="-120"/>
              </a:rPr>
              <a:t>Cardiovascular Disease Prediction Using Machine Learning · 8 / 12</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B8323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5F2EC"/>
                </a:solidFill>
                <a:latin typeface="Source Serif 4" pitchFamily="18" charset="0"/>
                <a:ea typeface="Source Serif 4" pitchFamily="18" charset="-122"/>
                <a:cs typeface="Source Serif 4" pitchFamily="18" charset="-120"/>
              </a:rPr>
              <a:t>Why the models score alike</a:t>
            </a:r>
            <a:endParaRPr lang="en-US" sz="3600" dirty="0"/>
          </a:p>
        </p:txBody>
      </p:sp>
      <p:sp>
        <p:nvSpPr>
          <p:cNvPr id="3" name="Text 1"/>
          <p:cNvSpPr/>
          <p:nvPr/>
        </p:nvSpPr>
        <p:spPr>
          <a:xfrm>
            <a:off x="812800" y="2446387"/>
            <a:ext cx="10883392" cy="1164530"/>
          </a:xfrm>
          <a:prstGeom prst="rect">
            <a:avLst/>
          </a:prstGeom>
          <a:noFill/>
          <a:ln/>
        </p:spPr>
        <p:txBody>
          <a:bodyPr wrap="square" lIns="0" tIns="0" rIns="0" bIns="0" rtlCol="0" anchor="t">
            <a:normAutofit/>
          </a:bodyPr>
          <a:lstStyle/>
          <a:p>
            <a:pPr algn="l" indent="0" marL="0">
              <a:lnSpc>
                <a:spcPts val="2990"/>
              </a:lnSpc>
              <a:buNone/>
            </a:pPr>
            <a:r>
              <a:rPr lang="en-US" sz="2300" dirty="0">
                <a:solidFill>
                  <a:srgbClr val="F5F2EC"/>
                </a:solidFill>
                <a:latin typeface="Inter" pitchFamily="34" charset="0"/>
                <a:ea typeface="Inter" pitchFamily="34" charset="-122"/>
                <a:cs typeface="Inter" pitchFamily="34" charset="-120"/>
              </a:rPr>
              <a:t>This is real examination data with only 11 features. The signal in it is limited, so very different algorithms, from Logistic Regression to a CNN, reach nearly the same accuracy of 72 to 73% and ROC-AUC of 0.79 to 0.80.</a:t>
            </a:r>
            <a:endParaRPr lang="en-US" sz="2300" dirty="0"/>
          </a:p>
        </p:txBody>
      </p:sp>
      <p:sp>
        <p:nvSpPr>
          <p:cNvPr id="4" name="Shape 2"/>
          <p:cNvSpPr/>
          <p:nvPr/>
        </p:nvSpPr>
        <p:spPr>
          <a:xfrm>
            <a:off x="812800" y="4716165"/>
            <a:ext cx="10566400" cy="1125835"/>
          </a:xfrm>
          <a:prstGeom prst="roundRect">
            <a:avLst>
              <a:gd name="adj" fmla="val 9024"/>
            </a:avLst>
          </a:prstGeom>
          <a:solidFill>
            <a:srgbClr val="9C2733"/>
          </a:solidFill>
          <a:ln/>
        </p:spPr>
      </p:sp>
      <p:sp>
        <p:nvSpPr>
          <p:cNvPr id="5" name="Text 3"/>
          <p:cNvSpPr/>
          <p:nvPr/>
        </p:nvSpPr>
        <p:spPr>
          <a:xfrm>
            <a:off x="1066800" y="4970165"/>
            <a:ext cx="1036015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5F2EC"/>
                </a:solidFill>
                <a:latin typeface="Inter" pitchFamily="34" charset="0"/>
                <a:ea typeface="Inter" pitchFamily="34" charset="-122"/>
                <a:cs typeface="Inter" pitchFamily="34" charset="-120"/>
              </a:rPr>
              <a:t>Strongest correlation with the target</a:t>
            </a:r>
            <a:endParaRPr lang="en-US" sz="1700" dirty="0"/>
          </a:p>
        </p:txBody>
      </p:sp>
      <p:sp>
        <p:nvSpPr>
          <p:cNvPr id="6" name="Text 4"/>
          <p:cNvSpPr/>
          <p:nvPr/>
        </p:nvSpPr>
        <p:spPr>
          <a:xfrm>
            <a:off x="1066800" y="5330825"/>
            <a:ext cx="10360152"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5F2EC"/>
                </a:solidFill>
                <a:latin typeface="Inter" pitchFamily="34" charset="0"/>
                <a:ea typeface="Inter" pitchFamily="34" charset="-122"/>
                <a:cs typeface="Inter" pitchFamily="34" charset="-120"/>
              </a:rPr>
              <a:t>Systolic blood pressure (0.43), diastolic blood pressure (0.34), age (0.24), cholesterol (0.22) and weight (0.18).</a:t>
            </a:r>
            <a:endParaRPr lang="en-US" sz="1500" dirty="0"/>
          </a:p>
        </p:txBody>
      </p:sp>
      <p:sp>
        <p:nvSpPr>
          <p:cNvPr id="7"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5F2EC"/>
                </a:solidFill>
                <a:latin typeface="Inter" pitchFamily="34" charset="0"/>
                <a:ea typeface="Inter" pitchFamily="34" charset="-122"/>
                <a:cs typeface="Inter" pitchFamily="34" charset="-120"/>
              </a:rPr>
              <a:t>Cardiovascular Disease Prediction Using Machine Learning · 9 / 12</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2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32E"/>
                </a:solidFill>
                <a:latin typeface="Source Serif 4" pitchFamily="18" charset="0"/>
                <a:ea typeface="Source Serif 4" pitchFamily="18" charset="-122"/>
                <a:cs typeface="Source Serif 4" pitchFamily="18" charset="-120"/>
              </a:rPr>
              <a:t>Limitations</a:t>
            </a:r>
            <a:endParaRPr lang="en-US" sz="3600" dirty="0"/>
          </a:p>
        </p:txBody>
      </p:sp>
      <p:sp>
        <p:nvSpPr>
          <p:cNvPr id="3" name="Shape 1"/>
          <p:cNvSpPr/>
          <p:nvPr/>
        </p:nvSpPr>
        <p:spPr>
          <a:xfrm>
            <a:off x="815975" y="3919885"/>
            <a:ext cx="3380284" cy="1918940"/>
          </a:xfrm>
          <a:prstGeom prst="roundRect">
            <a:avLst>
              <a:gd name="adj" fmla="val 5129"/>
            </a:avLst>
          </a:prstGeom>
          <a:solidFill>
            <a:srgbClr val="FFFFFF"/>
          </a:solidFill>
          <a:ln w="6350">
            <a:solidFill>
              <a:srgbClr val="E3DDD2"/>
            </a:solidFill>
            <a:prstDash val="solid"/>
          </a:ln>
        </p:spPr>
      </p:sp>
      <p:sp>
        <p:nvSpPr>
          <p:cNvPr id="4" name="Text 2"/>
          <p:cNvSpPr/>
          <p:nvPr/>
        </p:nvSpPr>
        <p:spPr>
          <a:xfrm>
            <a:off x="1073150" y="4177060"/>
            <a:ext cx="2951912"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8323F"/>
                </a:solidFill>
                <a:latin typeface="Inter" pitchFamily="34" charset="0"/>
                <a:ea typeface="Inter" pitchFamily="34" charset="-122"/>
                <a:cs typeface="Inter" pitchFamily="34" charset="-120"/>
              </a:rPr>
              <a:t>Limited features</a:t>
            </a:r>
            <a:endParaRPr lang="en-US" sz="1800" dirty="0"/>
          </a:p>
        </p:txBody>
      </p:sp>
      <p:sp>
        <p:nvSpPr>
          <p:cNvPr id="5" name="Text 3"/>
          <p:cNvSpPr/>
          <p:nvPr/>
        </p:nvSpPr>
        <p:spPr>
          <a:xfrm>
            <a:off x="1073150" y="4552950"/>
            <a:ext cx="2951912"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3D4A53"/>
                </a:solidFill>
                <a:latin typeface="Inter" pitchFamily="34" charset="0"/>
                <a:ea typeface="Inter" pitchFamily="34" charset="-122"/>
                <a:cs typeface="Inter" pitchFamily="34" charset="-120"/>
              </a:rPr>
              <a:t>Only 11 measurements, so there is a ceiling on what any model can learn.</a:t>
            </a:r>
            <a:endParaRPr lang="en-US" sz="1500" dirty="0"/>
          </a:p>
        </p:txBody>
      </p:sp>
      <p:sp>
        <p:nvSpPr>
          <p:cNvPr id="6" name="Shape 4"/>
          <p:cNvSpPr/>
          <p:nvPr/>
        </p:nvSpPr>
        <p:spPr>
          <a:xfrm>
            <a:off x="4405809" y="3919885"/>
            <a:ext cx="3380333" cy="1918940"/>
          </a:xfrm>
          <a:prstGeom prst="roundRect">
            <a:avLst>
              <a:gd name="adj" fmla="val 5129"/>
            </a:avLst>
          </a:prstGeom>
          <a:solidFill>
            <a:srgbClr val="FFFFFF"/>
          </a:solidFill>
          <a:ln w="6350">
            <a:solidFill>
              <a:srgbClr val="E3DDD2"/>
            </a:solidFill>
            <a:prstDash val="solid"/>
          </a:ln>
        </p:spPr>
      </p:sp>
      <p:sp>
        <p:nvSpPr>
          <p:cNvPr id="7" name="Text 5"/>
          <p:cNvSpPr/>
          <p:nvPr/>
        </p:nvSpPr>
        <p:spPr>
          <a:xfrm>
            <a:off x="4662984" y="4177060"/>
            <a:ext cx="2951963"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8323F"/>
                </a:solidFill>
                <a:latin typeface="Inter" pitchFamily="34" charset="0"/>
                <a:ea typeface="Inter" pitchFamily="34" charset="-122"/>
                <a:cs typeface="Inter" pitchFamily="34" charset="-120"/>
              </a:rPr>
              <a:t>Missed patients</a:t>
            </a:r>
            <a:endParaRPr lang="en-US" sz="1800" dirty="0"/>
          </a:p>
        </p:txBody>
      </p:sp>
      <p:sp>
        <p:nvSpPr>
          <p:cNvPr id="8" name="Text 6"/>
          <p:cNvSpPr/>
          <p:nvPr/>
        </p:nvSpPr>
        <p:spPr>
          <a:xfrm>
            <a:off x="4662984" y="4552950"/>
            <a:ext cx="2951963" cy="105410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3D4A53"/>
                </a:solidFill>
                <a:latin typeface="Inter" pitchFamily="34" charset="0"/>
                <a:ea typeface="Inter" pitchFamily="34" charset="-122"/>
                <a:cs typeface="Inter" pitchFamily="34" charset="-120"/>
              </a:rPr>
              <a:t>Recall is about 65 to 68% across the models, so roughly one in three patients with the disease is missed.</a:t>
            </a:r>
            <a:endParaRPr lang="en-US" sz="1500" dirty="0"/>
          </a:p>
        </p:txBody>
      </p:sp>
      <p:sp>
        <p:nvSpPr>
          <p:cNvPr id="9" name="Shape 7"/>
          <p:cNvSpPr/>
          <p:nvPr/>
        </p:nvSpPr>
        <p:spPr>
          <a:xfrm>
            <a:off x="7995692" y="3919885"/>
            <a:ext cx="3380333" cy="1918940"/>
          </a:xfrm>
          <a:prstGeom prst="roundRect">
            <a:avLst>
              <a:gd name="adj" fmla="val 5129"/>
            </a:avLst>
          </a:prstGeom>
          <a:solidFill>
            <a:srgbClr val="FFFFFF"/>
          </a:solidFill>
          <a:ln w="6350">
            <a:solidFill>
              <a:srgbClr val="E3DDD2"/>
            </a:solidFill>
            <a:prstDash val="solid"/>
          </a:ln>
        </p:spPr>
      </p:sp>
      <p:sp>
        <p:nvSpPr>
          <p:cNvPr id="10" name="Text 8"/>
          <p:cNvSpPr/>
          <p:nvPr/>
        </p:nvSpPr>
        <p:spPr>
          <a:xfrm>
            <a:off x="8252867" y="4177060"/>
            <a:ext cx="2951963"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8323F"/>
                </a:solidFill>
                <a:latin typeface="Inter" pitchFamily="34" charset="0"/>
                <a:ea typeface="Inter" pitchFamily="34" charset="-122"/>
                <a:cs typeface="Inter" pitchFamily="34" charset="-120"/>
              </a:rPr>
              <a:t>Not for diagnosis</a:t>
            </a:r>
            <a:endParaRPr lang="en-US" sz="1800" dirty="0"/>
          </a:p>
        </p:txBody>
      </p:sp>
      <p:sp>
        <p:nvSpPr>
          <p:cNvPr id="11" name="Text 9"/>
          <p:cNvSpPr/>
          <p:nvPr/>
        </p:nvSpPr>
        <p:spPr>
          <a:xfrm>
            <a:off x="8252867" y="4552950"/>
            <a:ext cx="2951963" cy="105410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3D4A53"/>
                </a:solidFill>
                <a:latin typeface="Inter" pitchFamily="34" charset="0"/>
                <a:ea typeface="Inter" pitchFamily="34" charset="-122"/>
                <a:cs typeface="Inter" pitchFamily="34" charset="-120"/>
              </a:rPr>
              <a:t>A learning project; input errors were cleaned with simple rules and the results are not clinically validated.</a:t>
            </a:r>
            <a:endParaRPr lang="en-US" sz="1500" dirty="0"/>
          </a:p>
        </p:txBody>
      </p:sp>
      <p:sp>
        <p:nvSpPr>
          <p:cNvPr id="12"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A73"/>
                </a:solidFill>
                <a:latin typeface="Inter" pitchFamily="34" charset="0"/>
                <a:ea typeface="Inter" pitchFamily="34" charset="-122"/>
                <a:cs typeface="Inter" pitchFamily="34" charset="-120"/>
              </a:rPr>
              <a:t>Cardiovascular Disease Prediction Using Machine Learning · 10 / 12</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2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32E"/>
                </a:solidFill>
                <a:latin typeface="Source Serif 4" pitchFamily="18" charset="0"/>
                <a:ea typeface="Source Serif 4" pitchFamily="18" charset="-122"/>
                <a:cs typeface="Source Serif 4" pitchFamily="18" charset="-120"/>
              </a:rPr>
              <a:t>Conclusion</a:t>
            </a:r>
            <a:endParaRPr lang="en-US" sz="3600" dirty="0"/>
          </a:p>
        </p:txBody>
      </p:sp>
      <p:sp>
        <p:nvSpPr>
          <p:cNvPr id="3" name="Shape 1"/>
          <p:cNvSpPr/>
          <p:nvPr/>
        </p:nvSpPr>
        <p:spPr>
          <a:xfrm>
            <a:off x="815975" y="2235547"/>
            <a:ext cx="3380284" cy="1903710"/>
          </a:xfrm>
          <a:prstGeom prst="roundRect">
            <a:avLst>
              <a:gd name="adj" fmla="val 5170"/>
            </a:avLst>
          </a:prstGeom>
          <a:solidFill>
            <a:srgbClr val="FFFFFF"/>
          </a:solidFill>
          <a:ln w="6350">
            <a:solidFill>
              <a:srgbClr val="E3DDD2"/>
            </a:solidFill>
            <a:prstDash val="solid"/>
          </a:ln>
        </p:spPr>
      </p:sp>
      <p:sp>
        <p:nvSpPr>
          <p:cNvPr id="4" name="Text 2"/>
          <p:cNvSpPr/>
          <p:nvPr/>
        </p:nvSpPr>
        <p:spPr>
          <a:xfrm>
            <a:off x="1073150" y="2492722"/>
            <a:ext cx="295191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7716A"/>
                </a:solidFill>
                <a:latin typeface="Inter" pitchFamily="34" charset="0"/>
                <a:ea typeface="Inter" pitchFamily="34" charset="-122"/>
                <a:cs typeface="Inter" pitchFamily="34" charset="-120"/>
              </a:rPr>
              <a:t>Close results</a:t>
            </a:r>
            <a:endParaRPr lang="en-US" sz="1700" dirty="0"/>
          </a:p>
        </p:txBody>
      </p:sp>
      <p:sp>
        <p:nvSpPr>
          <p:cNvPr id="5" name="Text 3"/>
          <p:cNvSpPr/>
          <p:nvPr/>
        </p:nvSpPr>
        <p:spPr>
          <a:xfrm>
            <a:off x="1073150" y="2853382"/>
            <a:ext cx="2951912" cy="105410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3D4A53"/>
                </a:solidFill>
                <a:latin typeface="Inter" pitchFamily="34" charset="0"/>
                <a:ea typeface="Inter" pitchFamily="34" charset="-122"/>
                <a:cs typeface="Inter" pitchFamily="34" charset="-120"/>
              </a:rPr>
              <a:t>All seven models scored 72 to 73% accuracy. XGBoost and the CNN led on ROC-AUC at about 0.80.</a:t>
            </a:r>
            <a:endParaRPr lang="en-US" sz="1500" dirty="0"/>
          </a:p>
        </p:txBody>
      </p:sp>
      <p:sp>
        <p:nvSpPr>
          <p:cNvPr id="6" name="Shape 4"/>
          <p:cNvSpPr/>
          <p:nvPr/>
        </p:nvSpPr>
        <p:spPr>
          <a:xfrm>
            <a:off x="4405809" y="2235547"/>
            <a:ext cx="3380333" cy="1903710"/>
          </a:xfrm>
          <a:prstGeom prst="roundRect">
            <a:avLst>
              <a:gd name="adj" fmla="val 5170"/>
            </a:avLst>
          </a:prstGeom>
          <a:solidFill>
            <a:srgbClr val="FFFFFF"/>
          </a:solidFill>
          <a:ln w="6350">
            <a:solidFill>
              <a:srgbClr val="E3DDD2"/>
            </a:solidFill>
            <a:prstDash val="solid"/>
          </a:ln>
        </p:spPr>
      </p:sp>
      <p:sp>
        <p:nvSpPr>
          <p:cNvPr id="7" name="Text 5"/>
          <p:cNvSpPr/>
          <p:nvPr/>
        </p:nvSpPr>
        <p:spPr>
          <a:xfrm>
            <a:off x="4662984" y="2492722"/>
            <a:ext cx="2951963"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7716A"/>
                </a:solidFill>
                <a:latin typeface="Inter" pitchFamily="34" charset="0"/>
                <a:ea typeface="Inter" pitchFamily="34" charset="-122"/>
                <a:cs typeface="Inter" pitchFamily="34" charset="-120"/>
              </a:rPr>
              <a:t>Why</a:t>
            </a:r>
            <a:endParaRPr lang="en-US" sz="1700" dirty="0"/>
          </a:p>
        </p:txBody>
      </p:sp>
      <p:sp>
        <p:nvSpPr>
          <p:cNvPr id="8" name="Text 6"/>
          <p:cNvSpPr/>
          <p:nvPr/>
        </p:nvSpPr>
        <p:spPr>
          <a:xfrm>
            <a:off x="4662984" y="2853382"/>
            <a:ext cx="2951963"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3D4A53"/>
                </a:solidFill>
                <a:latin typeface="Inter" pitchFamily="34" charset="0"/>
                <a:ea typeface="Inter" pitchFamily="34" charset="-122"/>
                <a:cs typeface="Inter" pitchFamily="34" charset="-120"/>
              </a:rPr>
              <a:t>Real data with only 11 features limits how much any algorithm can learn.</a:t>
            </a:r>
            <a:endParaRPr lang="en-US" sz="1500" dirty="0"/>
          </a:p>
        </p:txBody>
      </p:sp>
      <p:sp>
        <p:nvSpPr>
          <p:cNvPr id="9" name="Shape 7"/>
          <p:cNvSpPr/>
          <p:nvPr/>
        </p:nvSpPr>
        <p:spPr>
          <a:xfrm>
            <a:off x="7995692" y="2235547"/>
            <a:ext cx="3380333" cy="1903710"/>
          </a:xfrm>
          <a:prstGeom prst="roundRect">
            <a:avLst>
              <a:gd name="adj" fmla="val 5170"/>
            </a:avLst>
          </a:prstGeom>
          <a:solidFill>
            <a:srgbClr val="FFFFFF"/>
          </a:solidFill>
          <a:ln w="6350">
            <a:solidFill>
              <a:srgbClr val="E3DDD2"/>
            </a:solidFill>
            <a:prstDash val="solid"/>
          </a:ln>
        </p:spPr>
      </p:sp>
      <p:sp>
        <p:nvSpPr>
          <p:cNvPr id="10" name="Text 8"/>
          <p:cNvSpPr/>
          <p:nvPr/>
        </p:nvSpPr>
        <p:spPr>
          <a:xfrm>
            <a:off x="8252867" y="2492722"/>
            <a:ext cx="2951963"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7716A"/>
                </a:solidFill>
                <a:latin typeface="Inter" pitchFamily="34" charset="0"/>
                <a:ea typeface="Inter" pitchFamily="34" charset="-122"/>
                <a:cs typeface="Inter" pitchFamily="34" charset="-120"/>
              </a:rPr>
              <a:t>Fair evaluation</a:t>
            </a:r>
            <a:endParaRPr lang="en-US" sz="1700" dirty="0"/>
          </a:p>
        </p:txBody>
      </p:sp>
      <p:sp>
        <p:nvSpPr>
          <p:cNvPr id="11" name="Text 9"/>
          <p:cNvSpPr/>
          <p:nvPr/>
        </p:nvSpPr>
        <p:spPr>
          <a:xfrm>
            <a:off x="8252867" y="2853382"/>
            <a:ext cx="2951963"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3D4A53"/>
                </a:solidFill>
                <a:latin typeface="Inter" pitchFamily="34" charset="0"/>
                <a:ea typeface="Inter" pitchFamily="34" charset="-122"/>
                <a:cs typeface="Inter" pitchFamily="34" charset="-120"/>
              </a:rPr>
              <a:t>Validation-based tuning and train-only scaling kept the test scores honest.</a:t>
            </a:r>
            <a:endParaRPr lang="en-US" sz="1500" dirty="0"/>
          </a:p>
        </p:txBody>
      </p:sp>
      <p:sp>
        <p:nvSpPr>
          <p:cNvPr id="12" name="Shape 10"/>
          <p:cNvSpPr/>
          <p:nvPr/>
        </p:nvSpPr>
        <p:spPr>
          <a:xfrm>
            <a:off x="812800" y="5065415"/>
            <a:ext cx="10566400" cy="0"/>
          </a:xfrm>
          <a:prstGeom prst="line">
            <a:avLst/>
          </a:prstGeom>
          <a:noFill/>
          <a:ln w="12700">
            <a:solidFill>
              <a:srgbClr val="14232E"/>
            </a:solidFill>
            <a:prstDash val="solid"/>
          </a:ln>
        </p:spPr>
      </p:sp>
      <p:sp>
        <p:nvSpPr>
          <p:cNvPr id="13" name="Text 11"/>
          <p:cNvSpPr/>
          <p:nvPr/>
        </p:nvSpPr>
        <p:spPr>
          <a:xfrm>
            <a:off x="812800" y="5249565"/>
            <a:ext cx="1088339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B8323F"/>
                </a:solidFill>
                <a:latin typeface="Inter" pitchFamily="34" charset="0"/>
                <a:ea typeface="Inter" pitchFamily="34" charset="-122"/>
                <a:cs typeface="Inter" pitchFamily="34" charset="-120"/>
              </a:rPr>
              <a:t>Future work</a:t>
            </a:r>
            <a:endParaRPr lang="en-US" sz="1700" dirty="0"/>
          </a:p>
        </p:txBody>
      </p:sp>
      <p:sp>
        <p:nvSpPr>
          <p:cNvPr id="14" name="Text 12"/>
          <p:cNvSpPr/>
          <p:nvPr/>
        </p:nvSpPr>
        <p:spPr>
          <a:xfrm>
            <a:off x="812800" y="5584825"/>
            <a:ext cx="10883392"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3D4A53"/>
                </a:solidFill>
                <a:latin typeface="Inter" pitchFamily="34" charset="0"/>
                <a:ea typeface="Inter" pitchFamily="34" charset="-122"/>
                <a:cs typeface="Inter" pitchFamily="34" charset="-120"/>
              </a:rPr>
              <a:t>Add features such as BMI, use cross-validation and grid search, and tune the threshold for higher recall.</a:t>
            </a:r>
            <a:endParaRPr lang="en-US" sz="1500" dirty="0"/>
          </a:p>
        </p:txBody>
      </p:sp>
      <p:sp>
        <p:nvSpPr>
          <p:cNvPr id="15"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A73"/>
                </a:solidFill>
                <a:latin typeface="Inter" pitchFamily="34" charset="0"/>
                <a:ea typeface="Inter" pitchFamily="34" charset="-122"/>
                <a:cs typeface="Inter" pitchFamily="34" charset="-120"/>
              </a:rPr>
              <a:t>Cardiovascular Disease Prediction Using Machine Learning · 11 / 12</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232E"/>
        </a:solidFill>
      </p:bgPr>
    </p:bg>
    <p:spTree>
      <p:nvGrpSpPr>
        <p:cNvPr id="1" name=""/>
        <p:cNvGrpSpPr/>
        <p:nvPr/>
      </p:nvGrpSpPr>
      <p:grpSpPr>
        <a:xfrm>
          <a:off x="0" y="0"/>
          <a:ext cx="0" cy="0"/>
          <a:chOff x="0" y="0"/>
          <a:chExt cx="0" cy="0"/>
        </a:xfrm>
      </p:grpSpPr>
      <p:sp>
        <p:nvSpPr>
          <p:cNvPr id="2" name="Text 0"/>
          <p:cNvSpPr/>
          <p:nvPr/>
        </p:nvSpPr>
        <p:spPr>
          <a:xfrm>
            <a:off x="812800" y="81280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9AA0"/>
                </a:solidFill>
                <a:latin typeface="Inter" pitchFamily="34" charset="0"/>
                <a:ea typeface="Inter" pitchFamily="34" charset="-122"/>
                <a:cs typeface="Inter" pitchFamily="34" charset="-120"/>
              </a:rPr>
              <a:t>Cardiovascular Disease Prediction Using Machine Learning</a:t>
            </a:r>
            <a:endParaRPr lang="en-US" sz="1600" dirty="0"/>
          </a:p>
        </p:txBody>
      </p:sp>
      <p:sp>
        <p:nvSpPr>
          <p:cNvPr id="3" name="Shape 1"/>
          <p:cNvSpPr/>
          <p:nvPr/>
        </p:nvSpPr>
        <p:spPr>
          <a:xfrm>
            <a:off x="812800" y="2589560"/>
            <a:ext cx="1016000" cy="50800"/>
          </a:xfrm>
          <a:prstGeom prst="rect">
            <a:avLst/>
          </a:prstGeom>
          <a:solidFill>
            <a:srgbClr val="FF9AA0"/>
          </a:solidFill>
          <a:ln/>
        </p:spPr>
      </p:sp>
      <p:sp>
        <p:nvSpPr>
          <p:cNvPr id="4" name="Text 2"/>
          <p:cNvSpPr/>
          <p:nvPr>
            <p:ph type="title"/>
          </p:nvPr>
        </p:nvSpPr>
        <p:spPr>
          <a:xfrm>
            <a:off x="812800" y="2843560"/>
            <a:ext cx="10883392" cy="919460"/>
          </a:xfrm>
          <a:prstGeom prst="rect">
            <a:avLst/>
          </a:prstGeom>
          <a:noFill/>
          <a:ln/>
        </p:spPr>
        <p:txBody>
          <a:bodyPr wrap="square" lIns="0" tIns="0" rIns="0" bIns="0" rtlCol="0" anchor="t">
            <a:normAutofit/>
          </a:bodyPr>
          <a:lstStyle/>
          <a:p>
            <a:pPr algn="l" indent="0" marL="0">
              <a:lnSpc>
                <a:spcPts val="7040"/>
              </a:lnSpc>
              <a:buNone/>
            </a:pPr>
            <a:r>
              <a:rPr lang="en-US" sz="6400" b="1" i="0" dirty="0">
                <a:solidFill>
                  <a:srgbClr val="F5F2EC"/>
                </a:solidFill>
                <a:latin typeface="Source Serif 4" pitchFamily="18" charset="0"/>
                <a:ea typeface="Source Serif 4" pitchFamily="18" charset="-122"/>
                <a:cs typeface="Source Serif 4" pitchFamily="18" charset="-120"/>
              </a:rPr>
              <a:t>Thank you</a:t>
            </a:r>
            <a:endParaRPr lang="en-US" sz="6400" dirty="0"/>
          </a:p>
        </p:txBody>
      </p:sp>
      <p:sp>
        <p:nvSpPr>
          <p:cNvPr id="5" name="Text 3"/>
          <p:cNvSpPr/>
          <p:nvPr/>
        </p:nvSpPr>
        <p:spPr>
          <a:xfrm>
            <a:off x="812800" y="3940820"/>
            <a:ext cx="10883392" cy="38859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C9D3D8"/>
                </a:solidFill>
                <a:latin typeface="Inter" pitchFamily="34" charset="0"/>
                <a:ea typeface="Inter" pitchFamily="34" charset="-122"/>
                <a:cs typeface="Inter" pitchFamily="34" charset="-120"/>
              </a:rPr>
              <a:t>Questions are welcome.</a:t>
            </a:r>
            <a:endParaRPr lang="en-US" sz="2200" dirty="0"/>
          </a:p>
        </p:txBody>
      </p:sp>
      <p:sp>
        <p:nvSpPr>
          <p:cNvPr id="6" name="Text 4"/>
          <p:cNvSpPr/>
          <p:nvPr/>
        </p:nvSpPr>
        <p:spPr>
          <a:xfrm>
            <a:off x="812800" y="579631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6BD"/>
                </a:solidFill>
                <a:latin typeface="Inter" pitchFamily="34" charset="0"/>
                <a:ea typeface="Inter" pitchFamily="34" charset="-122"/>
                <a:cs typeface="Inter" pitchFamily="34" charset="-120"/>
              </a:rPr>
              <a:t>Md Abu Said · CS 2203048 · CSE, NITER</a:t>
            </a:r>
            <a:endParaRPr lang="en-US" sz="1400" dirty="0"/>
          </a:p>
        </p:txBody>
      </p:sp>
    </p:spTree>
  </p:cSld>
  <p:clrMapOvr>
    <a:masterClrMapping/>
  </p:clrMapOvr>
</p:sld>
</file>

<file path=ppt/theme/theme1.xml><?xml version="1.0" encoding="utf-8"?>
<a:theme xmlns:a="http://schemas.openxmlformats.org/drawingml/2006/main" name="Cardiovascular Disease Prediction Using Machine Learning">
  <a:themeElements>
    <a:clrScheme name="Cardiovascular Disease Prediction Using Machine Learning">
      <a:dk1>
        <a:srgbClr val="14232E"/>
      </a:dk1>
      <a:lt1>
        <a:srgbClr val="F5F2EC"/>
      </a:lt1>
      <a:dk2>
        <a:srgbClr val="4C575E"/>
      </a:dk2>
      <a:lt2>
        <a:srgbClr val="DFDDD9"/>
      </a:lt2>
      <a:accent1>
        <a:srgbClr val="FF9AA0"/>
      </a:accent1>
      <a:accent2>
        <a:srgbClr val="B8323F"/>
      </a:accent2>
      <a:accent3>
        <a:srgbClr val="17716A"/>
      </a:accent3>
      <a:accent4>
        <a:srgbClr val="9C2733"/>
      </a:accent4>
      <a:accent5>
        <a:srgbClr val="3D4A53"/>
      </a:accent5>
      <a:accent6>
        <a:srgbClr val="C9D3D8"/>
      </a:accent6>
      <a:hlink>
        <a:srgbClr val="0563C1"/>
      </a:hlink>
      <a:folHlink>
        <a:srgbClr val="954F72"/>
      </a:folHlink>
    </a:clrScheme>
    <a:fontScheme name="Cardiovascular Disease Prediction Using Machine Learning">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Cardiovascular Disease Prediction Using Machine Learning</dc:title>
  <dc:subject/>
  <dc:creator/>
  <cp:lastModifiedBy/>
  <cp:revision>1</cp:revision>
  <dcterms:created xsi:type="dcterms:W3CDTF">2026-10-10T16:55:53Z</dcterms:created>
  <dcterms:modified xsi:type="dcterms:W3CDTF">2026-10-10T16:55:53Z</dcterms:modified>
</cp:coreProperties>
</file>